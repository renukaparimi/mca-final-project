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22"/>
  </p:handoutMasterIdLst>
  <p:sldIdLst>
    <p:sldId id="256" r:id="rId3"/>
    <p:sldId id="294" r:id="rId5"/>
    <p:sldId id="295" r:id="rId6"/>
    <p:sldId id="296" r:id="rId7"/>
    <p:sldId id="297" r:id="rId8"/>
    <p:sldId id="302" r:id="rId9"/>
    <p:sldId id="306" r:id="rId10"/>
    <p:sldId id="300" r:id="rId11"/>
    <p:sldId id="304" r:id="rId12"/>
    <p:sldId id="307" r:id="rId13"/>
    <p:sldId id="308" r:id="rId14"/>
    <p:sldId id="309" r:id="rId15"/>
    <p:sldId id="310" r:id="rId16"/>
    <p:sldId id="311" r:id="rId17"/>
    <p:sldId id="312" r:id="rId18"/>
    <p:sldId id="305" r:id="rId19"/>
    <p:sldId id="301" r:id="rId20"/>
    <p:sldId id="298"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386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7" autoAdjust="0"/>
    <p:restoredTop sz="94624" autoAdjust="0"/>
  </p:normalViewPr>
  <p:slideViewPr>
    <p:cSldViewPr showGuides="1">
      <p:cViewPr varScale="1">
        <p:scale>
          <a:sx n="87" d="100"/>
          <a:sy n="87" d="100"/>
        </p:scale>
        <p:origin x="427" y="67"/>
      </p:cViewPr>
      <p:guideLst>
        <p:guide orient="horz" pos="2159"/>
        <p:guide pos="3863"/>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65" d="100"/>
          <a:sy n="65" d="100"/>
        </p:scale>
        <p:origin x="3154" y="3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handoutMaster" Target="handoutMasters/handoutMaster1.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F2DB80D-D8DC-40C9-8603-2D92EB853E85}" type="datetimeFigureOut">
              <a:rPr lang="en-US" smtClean="0"/>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B72EF51-F63D-488E-9B3C-4A470AE4E6F5}" type="slidenum">
              <a:rPr lang="en-US" smtClean="0"/>
            </a:fld>
            <a:endParaRPr 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7EF2DC9-9E6B-4115-80F7-AF3C0B919820}" type="datetimeFigureOut">
              <a:rPr lang="en-US" smtClean="0"/>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B36BD8-3BE0-4B04-B520-77C1F1F1FB7F}" type="slidenum">
              <a:rPr lang="en-US" smtClean="0"/>
            </a:fld>
            <a:endParaRPr 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IN"/>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BB36BD8-3BE0-4B04-B520-77C1F1F1FB7F}"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854199"/>
            <a:ext cx="9144000" cy="1655763"/>
          </a:xfrm>
        </p:spPr>
        <p:txBody>
          <a:bodyPr anchor="b"/>
          <a:lstStyle>
            <a:lvl1pPr algn="ctr">
              <a:defRPr sz="6000"/>
            </a:lvl1pPr>
          </a:lstStyle>
          <a:p>
            <a:r>
              <a:rPr lang="en-US" dirty="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567608" y="592088"/>
            <a:ext cx="7609140" cy="1008112"/>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869085" y="1561876"/>
            <a:ext cx="10515600" cy="4531419"/>
          </a:xfrm>
        </p:spPr>
        <p:txBody>
          <a:bodyPr/>
          <a:lstStyle>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endParaRPr lang="en-US" dirty="0"/>
          </a:p>
        </p:txBody>
      </p:sp>
      <p:sp>
        <p:nvSpPr>
          <p:cNvPr id="10" name="Date Placeholder 2"/>
          <p:cNvSpPr>
            <a:spLocks noGrp="1"/>
          </p:cNvSpPr>
          <p:nvPr>
            <p:ph type="dt" sz="half" idx="11"/>
          </p:nvPr>
        </p:nvSpPr>
        <p:spPr>
          <a:xfrm>
            <a:off x="695400" y="6278770"/>
            <a:ext cx="1656183" cy="365125"/>
          </a:xfrm>
          <a:ln>
            <a:noFill/>
          </a:ln>
        </p:spPr>
        <p:txBody>
          <a:bodyPr/>
          <a:lstStyle>
            <a:lvl1pPr>
              <a:defRPr b="1">
                <a:solidFill>
                  <a:schemeClr val="bg1">
                    <a:lumMod val="50000"/>
                  </a:schemeClr>
                </a:solidFill>
              </a:defRPr>
            </a:lvl1pPr>
          </a:lstStyle>
          <a:p>
            <a:fld id="{8368060C-F3A5-4600-9262-589A0797613D}" type="datetime1">
              <a:rPr lang="en-IN" smtClean="0"/>
            </a:fld>
            <a:endParaRPr lang="en-US" dirty="0"/>
          </a:p>
        </p:txBody>
      </p:sp>
      <p:sp>
        <p:nvSpPr>
          <p:cNvPr id="11" name="Footer Placeholder 3"/>
          <p:cNvSpPr>
            <a:spLocks noGrp="1"/>
          </p:cNvSpPr>
          <p:nvPr>
            <p:ph type="ftr" sz="quarter" idx="12"/>
          </p:nvPr>
        </p:nvSpPr>
        <p:spPr>
          <a:xfrm>
            <a:off x="2567608" y="6278771"/>
            <a:ext cx="6912768" cy="365125"/>
          </a:xfrm>
          <a:ln>
            <a:noFill/>
          </a:ln>
        </p:spPr>
        <p:txBody>
          <a:bodyPr/>
          <a:lstStyle>
            <a:lvl1pPr>
              <a:defRPr b="1">
                <a:solidFill>
                  <a:schemeClr val="bg1">
                    <a:lumMod val="50000"/>
                  </a:schemeClr>
                </a:solidFill>
              </a:defRPr>
            </a:lvl1pPr>
          </a:lstStyle>
          <a:p>
            <a:r>
              <a:rPr lang="en-US" dirty="0"/>
              <a:t>Course Name                                                                Faculty Name, Designation, Dept.</a:t>
            </a:r>
            <a:endParaRPr lang="en-US" dirty="0"/>
          </a:p>
        </p:txBody>
      </p:sp>
      <p:pic>
        <p:nvPicPr>
          <p:cNvPr id="1026"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40709" y="-243408"/>
            <a:ext cx="3249644" cy="180000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3"/>
          <p:cNvSpPr>
            <a:spLocks noGrp="1"/>
          </p:cNvSpPr>
          <p:nvPr>
            <p:ph type="sldNum" sz="quarter" idx="13"/>
          </p:nvPr>
        </p:nvSpPr>
        <p:spPr>
          <a:xfrm>
            <a:off x="10272464" y="6356350"/>
            <a:ext cx="1081336" cy="365125"/>
          </a:xfrm>
        </p:spPr>
        <p:txBody>
          <a:bodyPr/>
          <a:lstStyle/>
          <a:p>
            <a:fld id="{326EF2E3-409D-4D76-AD02-397A36B0DA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40709" y="-243408"/>
            <a:ext cx="3249644" cy="1800000"/>
          </a:xfrm>
          <a:prstGeom prst="rect">
            <a:avLst/>
          </a:prstGeom>
          <a:noFill/>
          <a:extLst>
            <a:ext uri="{909E8E84-426E-40DD-AFC4-6F175D3DCCD1}">
              <a14:hiddenFill xmlns:a14="http://schemas.microsoft.com/office/drawing/2010/main">
                <a:solidFill>
                  <a:srgbClr val="FFFFFF"/>
                </a:solidFill>
              </a14:hiddenFill>
            </a:ext>
          </a:extLst>
        </p:spPr>
      </p:pic>
      <p:sp>
        <p:nvSpPr>
          <p:cNvPr id="6" name="Date Placeholder 2"/>
          <p:cNvSpPr>
            <a:spLocks noGrp="1"/>
          </p:cNvSpPr>
          <p:nvPr>
            <p:ph type="dt" sz="half" idx="11"/>
          </p:nvPr>
        </p:nvSpPr>
        <p:spPr>
          <a:xfrm>
            <a:off x="695400" y="6278770"/>
            <a:ext cx="1656183" cy="365125"/>
          </a:xfrm>
          <a:ln>
            <a:noFill/>
          </a:ln>
        </p:spPr>
        <p:txBody>
          <a:bodyPr/>
          <a:lstStyle>
            <a:lvl1pPr>
              <a:defRPr b="1">
                <a:solidFill>
                  <a:schemeClr val="bg1">
                    <a:lumMod val="50000"/>
                  </a:schemeClr>
                </a:solidFill>
              </a:defRPr>
            </a:lvl1pPr>
          </a:lstStyle>
          <a:p>
            <a:fld id="{8368060C-F3A5-4600-9262-589A0797613D}" type="datetime1">
              <a:rPr lang="en-IN" smtClean="0"/>
            </a:fld>
            <a:endParaRPr lang="en-US" dirty="0"/>
          </a:p>
        </p:txBody>
      </p:sp>
      <p:sp>
        <p:nvSpPr>
          <p:cNvPr id="7" name="Footer Placeholder 3"/>
          <p:cNvSpPr>
            <a:spLocks noGrp="1"/>
          </p:cNvSpPr>
          <p:nvPr>
            <p:ph type="ftr" sz="quarter" idx="12"/>
          </p:nvPr>
        </p:nvSpPr>
        <p:spPr>
          <a:xfrm>
            <a:off x="2567608" y="6278771"/>
            <a:ext cx="6912768" cy="365125"/>
          </a:xfrm>
          <a:ln>
            <a:noFill/>
          </a:ln>
        </p:spPr>
        <p:txBody>
          <a:bodyPr/>
          <a:lstStyle>
            <a:lvl1pPr>
              <a:defRPr b="1">
                <a:solidFill>
                  <a:schemeClr val="bg1">
                    <a:lumMod val="50000"/>
                  </a:schemeClr>
                </a:solidFill>
              </a:defRPr>
            </a:lvl1pPr>
          </a:lstStyle>
          <a:p>
            <a:r>
              <a:rPr lang="en-US" dirty="0"/>
              <a:t>Course Name                                                                Faculty Name, Designation, Dept.</a:t>
            </a:r>
            <a:endParaRPr lang="en-US" dirty="0"/>
          </a:p>
        </p:txBody>
      </p:sp>
      <p:sp>
        <p:nvSpPr>
          <p:cNvPr id="8" name="Slide Number Placeholder 3"/>
          <p:cNvSpPr>
            <a:spLocks noGrp="1"/>
          </p:cNvSpPr>
          <p:nvPr>
            <p:ph type="sldNum" sz="quarter" idx="13"/>
          </p:nvPr>
        </p:nvSpPr>
        <p:spPr>
          <a:xfrm>
            <a:off x="10272464" y="6356350"/>
            <a:ext cx="1081336" cy="365125"/>
          </a:xfrm>
        </p:spPr>
        <p:txBody>
          <a:bodyPr/>
          <a:lstStyle/>
          <a:p>
            <a:fld id="{326EF2E3-409D-4D76-AD02-397A36B0DA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33AD86-BCE5-402A-9A63-AC164DC60237}" type="datetime1">
              <a:rPr lang="en-IN"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Course Name                                                                Faculty Name, Designation, Dept.</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6EF2E3-409D-4D76-AD02-397A36B0DA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Box 4"/>
          <p:cNvSpPr txBox="1"/>
          <p:nvPr/>
        </p:nvSpPr>
        <p:spPr>
          <a:xfrm>
            <a:off x="4848858" y="5077633"/>
            <a:ext cx="2494280" cy="953135"/>
          </a:xfrm>
          <a:prstGeom prst="rect">
            <a:avLst/>
          </a:prstGeom>
          <a:noFill/>
        </p:spPr>
        <p:txBody>
          <a:bodyPr wrap="none" rtlCol="0">
            <a:spAutoFit/>
          </a:bodyPr>
          <a:lstStyle/>
          <a:p>
            <a:pPr algn="ctr"/>
            <a:r>
              <a:rPr lang="en-US" b="1" dirty="0">
                <a:solidFill>
                  <a:srgbClr val="002060"/>
                </a:solidFill>
                <a:latin typeface="Times New Roman" panose="02020603050405020304" pitchFamily="18" charset="0"/>
                <a:cs typeface="Times New Roman" panose="02020603050405020304" pitchFamily="18" charset="0"/>
              </a:rPr>
              <a:t>Presented By</a:t>
            </a:r>
            <a:endParaRPr lang="en-US" b="1" dirty="0">
              <a:solidFill>
                <a:srgbClr val="002060"/>
              </a:solidFill>
              <a:latin typeface="Times New Roman" panose="02020603050405020304" pitchFamily="18" charset="0"/>
              <a:cs typeface="Times New Roman" panose="02020603050405020304" pitchFamily="18" charset="0"/>
            </a:endParaRPr>
          </a:p>
          <a:p>
            <a:pPr algn="ctr"/>
            <a:r>
              <a:rPr lang="en-US" sz="2000" b="1" dirty="0">
                <a:solidFill>
                  <a:srgbClr val="C00000"/>
                </a:solidFill>
                <a:latin typeface="Times New Roman" panose="02020603050405020304" pitchFamily="18" charset="0"/>
                <a:cs typeface="Times New Roman" panose="02020603050405020304" pitchFamily="18" charset="0"/>
              </a:rPr>
              <a:t>P. Renuka Chowdary</a:t>
            </a:r>
            <a:endParaRPr lang="en-US" sz="2000" b="1" dirty="0">
              <a:solidFill>
                <a:srgbClr val="C00000"/>
              </a:solidFill>
              <a:latin typeface="Times New Roman" panose="02020603050405020304" pitchFamily="18" charset="0"/>
              <a:cs typeface="Times New Roman" panose="02020603050405020304" pitchFamily="18" charset="0"/>
            </a:endParaRPr>
          </a:p>
          <a:p>
            <a:pPr algn="ctr"/>
            <a:r>
              <a:rPr lang="en-US" b="1" dirty="0">
                <a:solidFill>
                  <a:srgbClr val="C00000"/>
                </a:solidFill>
                <a:latin typeface="Times New Roman" panose="02020603050405020304" pitchFamily="18" charset="0"/>
                <a:cs typeface="Times New Roman" panose="02020603050405020304" pitchFamily="18" charset="0"/>
              </a:rPr>
              <a:t>24M11MC134</a:t>
            </a:r>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2" name="TextBox 1"/>
          <p:cNvSpPr txBox="1"/>
          <p:nvPr/>
        </p:nvSpPr>
        <p:spPr>
          <a:xfrm>
            <a:off x="659396" y="1988840"/>
            <a:ext cx="10873208" cy="1014730"/>
          </a:xfrm>
          <a:prstGeom prst="rect">
            <a:avLst/>
          </a:prstGeom>
          <a:noFill/>
        </p:spPr>
        <p:txBody>
          <a:bodyPr wrap="square" rtlCol="0">
            <a:spAutoFit/>
          </a:bodyPr>
          <a:lstStyle/>
          <a:p>
            <a:pPr algn="ctr"/>
            <a:r>
              <a:rPr lang="en-US" altLang="en-US" sz="3000" b="1" dirty="0">
                <a:solidFill>
                  <a:srgbClr val="002060"/>
                </a:solidFill>
                <a:latin typeface="Times New Roman" panose="02020603050405020304" pitchFamily="18" charset="0"/>
                <a:cs typeface="Times New Roman" panose="02020603050405020304" pitchFamily="18" charset="0"/>
              </a:rPr>
              <a:t>A Multimodal Machine Learning Approach for Scrub Typhus Classification Using Clinical and Skin Image Data</a:t>
            </a:r>
            <a:endParaRPr lang="en-US" altLang="en-US" sz="3000" b="1" dirty="0">
              <a:solidFill>
                <a:srgbClr val="002060"/>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4331970" y="3586951"/>
            <a:ext cx="3528060" cy="1291590"/>
          </a:xfrm>
          <a:prstGeom prst="rect">
            <a:avLst/>
          </a:prstGeom>
          <a:noFill/>
        </p:spPr>
        <p:txBody>
          <a:bodyPr wrap="none" rtlCol="0">
            <a:spAutoFit/>
          </a:bodyPr>
          <a:lstStyle/>
          <a:p>
            <a:pPr algn="ctr"/>
            <a:r>
              <a:rPr lang="en-US" sz="1600" b="1" dirty="0">
                <a:solidFill>
                  <a:srgbClr val="002060"/>
                </a:solidFill>
                <a:latin typeface="Times New Roman" panose="02020603050405020304" pitchFamily="18" charset="0"/>
                <a:cs typeface="Times New Roman" panose="02020603050405020304" pitchFamily="18" charset="0"/>
              </a:rPr>
              <a:t>Under the Guidance of</a:t>
            </a:r>
            <a:endParaRPr lang="en-IN" sz="1600" b="1" dirty="0">
              <a:solidFill>
                <a:srgbClr val="002060"/>
              </a:solidFill>
              <a:latin typeface="Times New Roman" panose="02020603050405020304" pitchFamily="18" charset="0"/>
              <a:cs typeface="Times New Roman" panose="02020603050405020304" pitchFamily="18" charset="0"/>
            </a:endParaRPr>
          </a:p>
          <a:p>
            <a:pPr algn="ctr">
              <a:lnSpc>
                <a:spcPct val="150000"/>
              </a:lnSpc>
            </a:pPr>
            <a:r>
              <a:rPr lang="en-US" sz="2000" b="1" dirty="0">
                <a:solidFill>
                  <a:srgbClr val="C00000"/>
                </a:solidFill>
                <a:latin typeface="Times New Roman" panose="02020603050405020304" pitchFamily="18" charset="0"/>
                <a:cs typeface="Times New Roman" panose="02020603050405020304" pitchFamily="18" charset="0"/>
              </a:rPr>
              <a:t>Dr. B.Prameela Rani </a:t>
            </a:r>
            <a:endParaRPr lang="en-US" sz="2000" b="1" dirty="0">
              <a:solidFill>
                <a:srgbClr val="C00000"/>
              </a:solidFill>
              <a:latin typeface="Times New Roman" panose="02020603050405020304" pitchFamily="18" charset="0"/>
              <a:cs typeface="Times New Roman" panose="02020603050405020304" pitchFamily="18" charset="0"/>
            </a:endParaRPr>
          </a:p>
          <a:p>
            <a:pPr algn="ctr"/>
            <a:r>
              <a:rPr lang="en-US" sz="1600" b="1" dirty="0">
                <a:solidFill>
                  <a:srgbClr val="002060"/>
                </a:solidFill>
                <a:latin typeface="Times New Roman" panose="02020603050405020304" pitchFamily="18" charset="0"/>
                <a:cs typeface="Times New Roman" panose="02020603050405020304" pitchFamily="18" charset="0"/>
              </a:rPr>
              <a:t>Assistant Professor</a:t>
            </a:r>
            <a:endParaRPr lang="en-US" sz="1600" b="1" dirty="0">
              <a:solidFill>
                <a:srgbClr val="002060"/>
              </a:solidFill>
              <a:latin typeface="Times New Roman" panose="02020603050405020304" pitchFamily="18" charset="0"/>
              <a:cs typeface="Times New Roman" panose="02020603050405020304" pitchFamily="18" charset="0"/>
            </a:endParaRPr>
          </a:p>
          <a:p>
            <a:pPr algn="ctr"/>
            <a:r>
              <a:rPr lang="en-US" sz="1600" b="1" dirty="0">
                <a:solidFill>
                  <a:srgbClr val="002060"/>
                </a:solidFill>
                <a:latin typeface="Times New Roman" panose="02020603050405020304" pitchFamily="18" charset="0"/>
                <a:cs typeface="Times New Roman" panose="02020603050405020304" pitchFamily="18" charset="0"/>
              </a:rPr>
              <a:t>Department of Computer Applications</a:t>
            </a:r>
            <a:endParaRPr lang="en-US" sz="1600" b="1" dirty="0">
              <a:solidFill>
                <a:srgbClr val="002060"/>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3573672" y="6093296"/>
            <a:ext cx="5044650" cy="646331"/>
          </a:xfrm>
          <a:prstGeom prst="rect">
            <a:avLst/>
          </a:prstGeom>
          <a:solidFill>
            <a:srgbClr val="002060"/>
          </a:solidFill>
        </p:spPr>
        <p:txBody>
          <a:bodyPr wrap="none" rtlCol="0">
            <a:spAutoFit/>
          </a:bodyPr>
          <a:lstStyle/>
          <a:p>
            <a:pPr algn="ctr"/>
            <a:r>
              <a:rPr lang="en-US" sz="2000" b="1" dirty="0">
                <a:solidFill>
                  <a:schemeClr val="bg1"/>
                </a:solidFill>
                <a:latin typeface="Times New Roman" panose="02020603050405020304" pitchFamily="18" charset="0"/>
                <a:cs typeface="Times New Roman" panose="02020603050405020304" pitchFamily="18" charset="0"/>
              </a:rPr>
              <a:t>ADITYA UNIVERSITY, </a:t>
            </a:r>
            <a:r>
              <a:rPr lang="en-US" sz="1600" b="1" dirty="0" err="1">
                <a:solidFill>
                  <a:schemeClr val="bg1"/>
                </a:solidFill>
                <a:latin typeface="Times New Roman" panose="02020603050405020304" pitchFamily="18" charset="0"/>
                <a:cs typeface="Times New Roman" panose="02020603050405020304" pitchFamily="18" charset="0"/>
              </a:rPr>
              <a:t>Surampalem</a:t>
            </a:r>
            <a:r>
              <a:rPr lang="en-US" sz="1600" b="1" dirty="0">
                <a:solidFill>
                  <a:schemeClr val="bg1"/>
                </a:solidFill>
                <a:latin typeface="Times New Roman" panose="02020603050405020304" pitchFamily="18" charset="0"/>
                <a:cs typeface="Times New Roman" panose="02020603050405020304" pitchFamily="18" charset="0"/>
              </a:rPr>
              <a:t>, Kakinada</a:t>
            </a:r>
            <a:endParaRPr lang="en-US" sz="2000" b="1" dirty="0">
              <a:solidFill>
                <a:schemeClr val="bg1"/>
              </a:solidFill>
              <a:latin typeface="Times New Roman" panose="02020603050405020304" pitchFamily="18" charset="0"/>
              <a:cs typeface="Times New Roman" panose="02020603050405020304" pitchFamily="18" charset="0"/>
            </a:endParaRPr>
          </a:p>
          <a:p>
            <a:pPr algn="ctr"/>
            <a:r>
              <a:rPr lang="en-US" sz="1600" b="1" dirty="0">
                <a:solidFill>
                  <a:schemeClr val="bg1"/>
                </a:solidFill>
                <a:latin typeface="Times New Roman" panose="02020603050405020304" pitchFamily="18" charset="0"/>
                <a:cs typeface="Times New Roman" panose="02020603050405020304" pitchFamily="18" charset="0"/>
              </a:rPr>
              <a:t>2025-2026</a:t>
            </a:r>
            <a:endParaRPr lang="en-US" sz="1600" b="1"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84737" y="332656"/>
            <a:ext cx="2079415" cy="584775"/>
          </a:xfrm>
          <a:prstGeom prst="rect">
            <a:avLst/>
          </a:prstGeom>
          <a:noFill/>
        </p:spPr>
        <p:txBody>
          <a:bodyPr wrap="none" rtlCol="0">
            <a:spAutoFit/>
          </a:bodyPr>
          <a:lstStyle/>
          <a:p>
            <a:pPr algn="ctr"/>
            <a:r>
              <a:rPr lang="en-US" sz="3200" b="1" dirty="0">
                <a:solidFill>
                  <a:srgbClr val="002060"/>
                </a:solidFill>
                <a:latin typeface="Times New Roman" panose="02020603050405020304" pitchFamily="18" charset="0"/>
                <a:cs typeface="Times New Roman" panose="02020603050405020304" pitchFamily="18" charset="0"/>
              </a:rPr>
              <a:t>OUTLINE</a:t>
            </a:r>
            <a:endParaRPr lang="en-IN" sz="3200" b="1" dirty="0">
              <a:solidFill>
                <a:srgbClr val="002060"/>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767408" y="2257868"/>
            <a:ext cx="3072508" cy="2611292"/>
          </a:xfrm>
          <a:prstGeom prst="rect">
            <a:avLst/>
          </a:prstGeom>
          <a:noFill/>
          <a:ln>
            <a:noFill/>
          </a:ln>
        </p:spPr>
        <p:txBody>
          <a:bodyPr wrap="none" rtlCol="0">
            <a:spAutoFit/>
          </a:bodyPr>
          <a:lstStyle/>
          <a:p>
            <a:pPr marL="352425" indent="-269875">
              <a:buFont typeface="Wingdings" panose="05000000000000000000" pitchFamily="2" charset="2"/>
              <a:buChar char="§"/>
            </a:pPr>
            <a:r>
              <a:rPr lang="en-US" sz="2400" b="1" dirty="0">
                <a:solidFill>
                  <a:srgbClr val="002060"/>
                </a:solidFill>
                <a:latin typeface="Times New Roman" panose="02020603050405020304" pitchFamily="18" charset="0"/>
                <a:cs typeface="Times New Roman" panose="02020603050405020304" pitchFamily="18" charset="0"/>
              </a:rPr>
              <a:t>Introduction</a:t>
            </a:r>
            <a:endParaRPr lang="en-US" sz="2400" b="1" dirty="0">
              <a:solidFill>
                <a:srgbClr val="002060"/>
              </a:solidFill>
              <a:latin typeface="Times New Roman" panose="02020603050405020304" pitchFamily="18" charset="0"/>
              <a:cs typeface="Times New Roman" panose="02020603050405020304" pitchFamily="18" charset="0"/>
            </a:endParaRPr>
          </a:p>
          <a:p>
            <a:pPr marL="352425" indent="-269875">
              <a:lnSpc>
                <a:spcPct val="150000"/>
              </a:lnSpc>
              <a:buFont typeface="Wingdings" panose="05000000000000000000" pitchFamily="2" charset="2"/>
              <a:buChar char="§"/>
            </a:pPr>
            <a:r>
              <a:rPr lang="en-US" sz="2400" b="1" dirty="0">
                <a:solidFill>
                  <a:srgbClr val="002060"/>
                </a:solidFill>
                <a:latin typeface="Times New Roman" panose="02020603050405020304" pitchFamily="18" charset="0"/>
                <a:cs typeface="Times New Roman" panose="02020603050405020304" pitchFamily="18" charset="0"/>
              </a:rPr>
              <a:t>Problem Statement</a:t>
            </a:r>
            <a:endParaRPr lang="en-US" sz="2400" b="1" dirty="0">
              <a:solidFill>
                <a:srgbClr val="002060"/>
              </a:solidFill>
              <a:latin typeface="Times New Roman" panose="02020603050405020304" pitchFamily="18" charset="0"/>
              <a:cs typeface="Times New Roman" panose="02020603050405020304" pitchFamily="18" charset="0"/>
            </a:endParaRPr>
          </a:p>
          <a:p>
            <a:pPr marL="352425" indent="-269875">
              <a:lnSpc>
                <a:spcPct val="150000"/>
              </a:lnSpc>
              <a:buFont typeface="Wingdings" panose="05000000000000000000" pitchFamily="2" charset="2"/>
              <a:buChar char="§"/>
            </a:pPr>
            <a:r>
              <a:rPr lang="en-US" sz="2400" b="1" dirty="0">
                <a:solidFill>
                  <a:srgbClr val="002060"/>
                </a:solidFill>
                <a:latin typeface="Times New Roman" panose="02020603050405020304" pitchFamily="18" charset="0"/>
                <a:cs typeface="Times New Roman" panose="02020603050405020304" pitchFamily="18" charset="0"/>
              </a:rPr>
              <a:t>Objectives</a:t>
            </a:r>
            <a:endParaRPr lang="en-US" sz="2400" b="1" dirty="0">
              <a:solidFill>
                <a:srgbClr val="002060"/>
              </a:solidFill>
              <a:latin typeface="Times New Roman" panose="02020603050405020304" pitchFamily="18" charset="0"/>
              <a:cs typeface="Times New Roman" panose="02020603050405020304" pitchFamily="18" charset="0"/>
            </a:endParaRPr>
          </a:p>
          <a:p>
            <a:pPr marL="352425" indent="-269875">
              <a:lnSpc>
                <a:spcPct val="150000"/>
              </a:lnSpc>
              <a:buFont typeface="Wingdings" panose="05000000000000000000" pitchFamily="2" charset="2"/>
              <a:buChar char="§"/>
            </a:pPr>
            <a:r>
              <a:rPr lang="en-US" sz="2400" b="1" dirty="0">
                <a:solidFill>
                  <a:srgbClr val="002060"/>
                </a:solidFill>
                <a:latin typeface="Times New Roman" panose="02020603050405020304" pitchFamily="18" charset="0"/>
                <a:cs typeface="Times New Roman" panose="02020603050405020304" pitchFamily="18" charset="0"/>
              </a:rPr>
              <a:t>Literature Survey</a:t>
            </a:r>
            <a:endParaRPr lang="en-US" sz="2400" b="1" dirty="0">
              <a:solidFill>
                <a:srgbClr val="002060"/>
              </a:solidFill>
              <a:latin typeface="Times New Roman" panose="02020603050405020304" pitchFamily="18" charset="0"/>
              <a:cs typeface="Times New Roman" panose="02020603050405020304" pitchFamily="18" charset="0"/>
            </a:endParaRPr>
          </a:p>
          <a:p>
            <a:pPr marL="352425" indent="-269875">
              <a:lnSpc>
                <a:spcPct val="150000"/>
              </a:lnSpc>
              <a:buFont typeface="Wingdings" panose="05000000000000000000" pitchFamily="2" charset="2"/>
              <a:buChar char="§"/>
            </a:pPr>
            <a:r>
              <a:rPr lang="en-US" sz="2400" b="1" dirty="0">
                <a:solidFill>
                  <a:srgbClr val="002060"/>
                </a:solidFill>
                <a:latin typeface="Times New Roman" panose="02020603050405020304" pitchFamily="18" charset="0"/>
                <a:cs typeface="Times New Roman" panose="02020603050405020304" pitchFamily="18" charset="0"/>
              </a:rPr>
              <a:t>Proposed System</a:t>
            </a:r>
            <a:endParaRPr lang="en-US" sz="2400" b="1" dirty="0">
              <a:solidFill>
                <a:srgbClr val="002060"/>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9137556" y="2239839"/>
            <a:ext cx="2287036" cy="2611292"/>
          </a:xfrm>
          <a:prstGeom prst="rect">
            <a:avLst/>
          </a:prstGeom>
          <a:noFill/>
          <a:ln>
            <a:noFill/>
          </a:ln>
        </p:spPr>
        <p:txBody>
          <a:bodyPr wrap="none" rtlCol="0">
            <a:spAutoFit/>
          </a:bodyPr>
          <a:lstStyle/>
          <a:p>
            <a:pPr marL="352425" indent="-269875">
              <a:buFont typeface="Wingdings" panose="05000000000000000000" pitchFamily="2" charset="2"/>
              <a:buChar char="§"/>
            </a:pPr>
            <a:r>
              <a:rPr lang="en-US" sz="2400" b="1" dirty="0">
                <a:solidFill>
                  <a:srgbClr val="002060"/>
                </a:solidFill>
                <a:latin typeface="Times New Roman" panose="02020603050405020304" pitchFamily="18" charset="0"/>
                <a:cs typeface="Times New Roman" panose="02020603050405020304" pitchFamily="18" charset="0"/>
              </a:rPr>
              <a:t>Advantages</a:t>
            </a:r>
            <a:endParaRPr lang="en-US" sz="2400" b="1" dirty="0">
              <a:solidFill>
                <a:srgbClr val="002060"/>
              </a:solidFill>
              <a:latin typeface="Times New Roman" panose="02020603050405020304" pitchFamily="18" charset="0"/>
              <a:cs typeface="Times New Roman" panose="02020603050405020304" pitchFamily="18" charset="0"/>
            </a:endParaRPr>
          </a:p>
          <a:p>
            <a:pPr marL="352425" indent="-269875">
              <a:lnSpc>
                <a:spcPct val="150000"/>
              </a:lnSpc>
              <a:buFont typeface="Wingdings" panose="05000000000000000000" pitchFamily="2" charset="2"/>
              <a:buChar char="§"/>
            </a:pPr>
            <a:r>
              <a:rPr lang="en-US" sz="2400" b="1" dirty="0">
                <a:solidFill>
                  <a:srgbClr val="002060"/>
                </a:solidFill>
                <a:latin typeface="Times New Roman" panose="02020603050405020304" pitchFamily="18" charset="0"/>
                <a:cs typeface="Times New Roman" panose="02020603050405020304" pitchFamily="18" charset="0"/>
              </a:rPr>
              <a:t>Limitations</a:t>
            </a:r>
            <a:endParaRPr lang="en-US" sz="2400" b="1" dirty="0">
              <a:solidFill>
                <a:srgbClr val="002060"/>
              </a:solidFill>
              <a:latin typeface="Times New Roman" panose="02020603050405020304" pitchFamily="18" charset="0"/>
              <a:cs typeface="Times New Roman" panose="02020603050405020304" pitchFamily="18" charset="0"/>
            </a:endParaRPr>
          </a:p>
          <a:p>
            <a:pPr marL="352425" indent="-269875">
              <a:lnSpc>
                <a:spcPct val="150000"/>
              </a:lnSpc>
              <a:buFont typeface="Wingdings" panose="05000000000000000000" pitchFamily="2" charset="2"/>
              <a:buChar char="§"/>
            </a:pPr>
            <a:r>
              <a:rPr lang="en-US" sz="2400" b="1" dirty="0">
                <a:solidFill>
                  <a:srgbClr val="002060"/>
                </a:solidFill>
                <a:latin typeface="Times New Roman" panose="02020603050405020304" pitchFamily="18" charset="0"/>
                <a:cs typeface="Times New Roman" panose="02020603050405020304" pitchFamily="18" charset="0"/>
              </a:rPr>
              <a:t>Future Scope</a:t>
            </a:r>
            <a:endParaRPr lang="en-US" sz="2400" b="1" dirty="0">
              <a:solidFill>
                <a:srgbClr val="002060"/>
              </a:solidFill>
              <a:latin typeface="Times New Roman" panose="02020603050405020304" pitchFamily="18" charset="0"/>
              <a:cs typeface="Times New Roman" panose="02020603050405020304" pitchFamily="18" charset="0"/>
            </a:endParaRPr>
          </a:p>
          <a:p>
            <a:pPr marL="352425" indent="-269875">
              <a:lnSpc>
                <a:spcPct val="150000"/>
              </a:lnSpc>
              <a:buFont typeface="Wingdings" panose="05000000000000000000" pitchFamily="2" charset="2"/>
              <a:buChar char="§"/>
            </a:pPr>
            <a:r>
              <a:rPr lang="en-US" sz="2400" b="1" dirty="0">
                <a:solidFill>
                  <a:srgbClr val="002060"/>
                </a:solidFill>
                <a:latin typeface="Times New Roman" panose="02020603050405020304" pitchFamily="18" charset="0"/>
                <a:cs typeface="Times New Roman" panose="02020603050405020304" pitchFamily="18" charset="0"/>
              </a:rPr>
              <a:t>Conclusion</a:t>
            </a:r>
            <a:endParaRPr lang="en-US" sz="2400" b="1" dirty="0">
              <a:solidFill>
                <a:srgbClr val="002060"/>
              </a:solidFill>
              <a:latin typeface="Times New Roman" panose="02020603050405020304" pitchFamily="18" charset="0"/>
              <a:cs typeface="Times New Roman" panose="02020603050405020304" pitchFamily="18" charset="0"/>
            </a:endParaRPr>
          </a:p>
          <a:p>
            <a:pPr marL="352425" indent="-269875">
              <a:lnSpc>
                <a:spcPct val="150000"/>
              </a:lnSpc>
              <a:buFont typeface="Wingdings" panose="05000000000000000000" pitchFamily="2" charset="2"/>
              <a:buChar char="§"/>
            </a:pPr>
            <a:r>
              <a:rPr lang="en-US" sz="2400" b="1" dirty="0">
                <a:solidFill>
                  <a:srgbClr val="002060"/>
                </a:solidFill>
                <a:latin typeface="Times New Roman" panose="02020603050405020304" pitchFamily="18" charset="0"/>
                <a:cs typeface="Times New Roman" panose="02020603050405020304" pitchFamily="18" charset="0"/>
              </a:rPr>
              <a:t>References</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5" name="TextBox 4"/>
          <p:cNvSpPr txBox="1"/>
          <p:nvPr/>
        </p:nvSpPr>
        <p:spPr>
          <a:xfrm>
            <a:off x="4655840" y="2257868"/>
            <a:ext cx="3856184" cy="2611292"/>
          </a:xfrm>
          <a:prstGeom prst="rect">
            <a:avLst/>
          </a:prstGeom>
          <a:noFill/>
          <a:ln>
            <a:noFill/>
          </a:ln>
        </p:spPr>
        <p:txBody>
          <a:bodyPr wrap="none" rtlCol="0">
            <a:spAutoFit/>
          </a:bodyPr>
          <a:lstStyle/>
          <a:p>
            <a:pPr marL="352425" indent="-269875">
              <a:buFont typeface="Wingdings" panose="05000000000000000000" pitchFamily="2" charset="2"/>
              <a:buChar char="§"/>
            </a:pPr>
            <a:r>
              <a:rPr lang="en-US" sz="2400" b="1" dirty="0">
                <a:solidFill>
                  <a:srgbClr val="002060"/>
                </a:solidFill>
                <a:latin typeface="Times New Roman" panose="02020603050405020304" pitchFamily="18" charset="0"/>
                <a:cs typeface="Times New Roman" panose="02020603050405020304" pitchFamily="18" charset="0"/>
              </a:rPr>
              <a:t>System Architecture</a:t>
            </a:r>
            <a:endParaRPr lang="en-US" sz="2400" b="1" dirty="0">
              <a:solidFill>
                <a:srgbClr val="002060"/>
              </a:solidFill>
              <a:latin typeface="Times New Roman" panose="02020603050405020304" pitchFamily="18" charset="0"/>
              <a:cs typeface="Times New Roman" panose="02020603050405020304" pitchFamily="18" charset="0"/>
            </a:endParaRPr>
          </a:p>
          <a:p>
            <a:pPr marL="352425" indent="-269875">
              <a:lnSpc>
                <a:spcPct val="150000"/>
              </a:lnSpc>
              <a:buFont typeface="Wingdings" panose="05000000000000000000" pitchFamily="2" charset="2"/>
              <a:buChar char="§"/>
            </a:pPr>
            <a:r>
              <a:rPr lang="en-US" sz="2400" b="1" dirty="0">
                <a:solidFill>
                  <a:srgbClr val="002060"/>
                </a:solidFill>
                <a:latin typeface="Times New Roman" panose="02020603050405020304" pitchFamily="18" charset="0"/>
                <a:cs typeface="Times New Roman" panose="02020603050405020304" pitchFamily="18" charset="0"/>
              </a:rPr>
              <a:t>Methodology / Algorithm</a:t>
            </a:r>
            <a:endParaRPr lang="en-US" sz="2400" b="1" dirty="0">
              <a:solidFill>
                <a:srgbClr val="002060"/>
              </a:solidFill>
              <a:latin typeface="Times New Roman" panose="02020603050405020304" pitchFamily="18" charset="0"/>
              <a:cs typeface="Times New Roman" panose="02020603050405020304" pitchFamily="18" charset="0"/>
            </a:endParaRPr>
          </a:p>
          <a:p>
            <a:pPr marL="352425" indent="-269875">
              <a:lnSpc>
                <a:spcPct val="150000"/>
              </a:lnSpc>
              <a:buFont typeface="Wingdings" panose="05000000000000000000" pitchFamily="2" charset="2"/>
              <a:buChar char="§"/>
            </a:pPr>
            <a:r>
              <a:rPr lang="en-US" sz="2400" b="1" dirty="0">
                <a:solidFill>
                  <a:srgbClr val="002060"/>
                </a:solidFill>
                <a:latin typeface="Times New Roman" panose="02020603050405020304" pitchFamily="18" charset="0"/>
                <a:cs typeface="Times New Roman" panose="02020603050405020304" pitchFamily="18" charset="0"/>
              </a:rPr>
              <a:t>Results &amp; Analysis</a:t>
            </a:r>
            <a:endParaRPr lang="en-US" sz="2400" b="1" dirty="0">
              <a:solidFill>
                <a:srgbClr val="002060"/>
              </a:solidFill>
              <a:latin typeface="Times New Roman" panose="02020603050405020304" pitchFamily="18" charset="0"/>
              <a:cs typeface="Times New Roman" panose="02020603050405020304" pitchFamily="18" charset="0"/>
            </a:endParaRPr>
          </a:p>
          <a:p>
            <a:pPr marL="352425" indent="-269875">
              <a:lnSpc>
                <a:spcPct val="150000"/>
              </a:lnSpc>
              <a:buFont typeface="Wingdings" panose="05000000000000000000" pitchFamily="2" charset="2"/>
              <a:buChar char="§"/>
            </a:pPr>
            <a:r>
              <a:rPr lang="en-US" sz="2400" b="1" dirty="0">
                <a:solidFill>
                  <a:srgbClr val="002060"/>
                </a:solidFill>
                <a:latin typeface="Times New Roman" panose="02020603050405020304" pitchFamily="18" charset="0"/>
                <a:cs typeface="Times New Roman" panose="02020603050405020304" pitchFamily="18" charset="0"/>
              </a:rPr>
              <a:t>Technologies Used</a:t>
            </a:r>
            <a:endParaRPr lang="en-US" sz="2400" b="1" dirty="0">
              <a:solidFill>
                <a:srgbClr val="002060"/>
              </a:solidFill>
              <a:latin typeface="Times New Roman" panose="02020603050405020304" pitchFamily="18" charset="0"/>
              <a:cs typeface="Times New Roman" panose="02020603050405020304" pitchFamily="18" charset="0"/>
            </a:endParaRPr>
          </a:p>
          <a:p>
            <a:pPr marL="352425" indent="-269875">
              <a:lnSpc>
                <a:spcPct val="150000"/>
              </a:lnSpc>
              <a:buFont typeface="Wingdings" panose="05000000000000000000" pitchFamily="2" charset="2"/>
              <a:buChar char="§"/>
            </a:pPr>
            <a:r>
              <a:rPr lang="en-US" sz="2400" b="1" dirty="0">
                <a:solidFill>
                  <a:srgbClr val="002060"/>
                </a:solidFill>
                <a:latin typeface="Times New Roman" panose="02020603050405020304" pitchFamily="18" charset="0"/>
                <a:cs typeface="Times New Roman" panose="02020603050405020304" pitchFamily="18" charset="0"/>
              </a:rPr>
              <a:t>Dataset / Input Details</a:t>
            </a:r>
            <a:endParaRPr lang="en-US" sz="2400" b="1"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32260" y="332656"/>
            <a:ext cx="3470823" cy="584775"/>
          </a:xfrm>
          <a:prstGeom prst="rect">
            <a:avLst/>
          </a:prstGeom>
          <a:noFill/>
        </p:spPr>
        <p:txBody>
          <a:bodyPr wrap="none" rtlCol="0">
            <a:spAutoFit/>
          </a:bodyPr>
          <a:lstStyle/>
          <a:p>
            <a:pPr algn="ctr"/>
            <a:r>
              <a:rPr lang="en-US" sz="3200" b="1" dirty="0">
                <a:solidFill>
                  <a:srgbClr val="002060"/>
                </a:solidFill>
                <a:latin typeface="Times New Roman" panose="02020603050405020304" pitchFamily="18" charset="0"/>
                <a:cs typeface="Times New Roman" panose="02020603050405020304" pitchFamily="18" charset="0"/>
              </a:rPr>
              <a:t>INTRODUCTION</a:t>
            </a:r>
            <a:endParaRPr lang="en-IN" sz="3200" b="1" dirty="0">
              <a:solidFill>
                <a:srgbClr val="00206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1347470" y="1226185"/>
            <a:ext cx="10110470" cy="4894580"/>
          </a:xfrm>
          <a:prstGeom prst="rect">
            <a:avLst/>
          </a:prstGeom>
        </p:spPr>
        <p:txBody>
          <a:bodyPr>
            <a:noAutofit/>
          </a:bodyPr>
          <a:p>
            <a:pPr algn="just">
              <a:lnSpc>
                <a:spcPct val="150000"/>
              </a:lnSpc>
            </a:pPr>
            <a:r>
              <a:rPr>
                <a:solidFill>
                  <a:srgbClr val="002060"/>
                </a:solidFill>
                <a:latin typeface="Times New Roman" panose="02020603050405020304" pitchFamily="18" charset="0"/>
                <a:cs typeface="Times New Roman" panose="02020603050405020304" pitchFamily="18" charset="0"/>
              </a:rPr>
              <a:t>Scrub typhus is an infectious disease caused by the bacterium Orientia tsutsugamushi and spread through the bite of infected chigger mites. It is commonly found in tropical and subtropical regions, especially in Asia. People affected by this disease usually experience symptoms such as fever, headache, body pain, chills, sweating, vomiting, and a skin lesion called eschar. Early diagnosis of scrub typhus is difficult because these symptoms are similar to other diseases like dengue, malaria, and typhoid. Traditional diagnosis mainly depends on clinical observation and laboratory tests, which can sometimes take time and may lead to misdiagnosis. To overcome this problem, this project proposes a multimodal machine learning approach that uses both clinical symptom data and skin lesion images to detect scrub typhus. Machine learning algorithms such as Random Forest and Support Vector Classifier are used to analyze the clinical data, while deep learning models analyze skin images to identify patterns related to the disease. Explainable AI techniques like SHAP and Grad-CAM++ are also used to understand how the model makes predictions. By combining both clinical and image data, the system aims to improve the accuracy of scrub typhus detection and support doctors in early diagnosis.</a:t>
            </a:r>
            <a:endParaRPr>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12277" y="332656"/>
            <a:ext cx="4881465" cy="584775"/>
          </a:xfrm>
          <a:prstGeom prst="rect">
            <a:avLst/>
          </a:prstGeom>
          <a:noFill/>
        </p:spPr>
        <p:txBody>
          <a:bodyPr wrap="none" rtlCol="0">
            <a:spAutoFit/>
          </a:bodyPr>
          <a:lstStyle/>
          <a:p>
            <a:r>
              <a:rPr lang="en-IN" sz="3200" b="1" dirty="0">
                <a:solidFill>
                  <a:srgbClr val="002060"/>
                </a:solidFill>
                <a:latin typeface="Times New Roman" panose="02020603050405020304" pitchFamily="18" charset="0"/>
                <a:cs typeface="Times New Roman" panose="02020603050405020304" pitchFamily="18" charset="0"/>
              </a:rPr>
              <a:t>PROBLEM STATEMENT</a:t>
            </a:r>
            <a:endParaRPr lang="en-IN" sz="3200" dirty="0">
              <a:solidFill>
                <a:srgbClr val="00206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495550" y="1557020"/>
            <a:ext cx="8299450" cy="3830955"/>
          </a:xfrm>
          <a:prstGeom prst="rect">
            <a:avLst/>
          </a:prstGeom>
        </p:spPr>
        <p:txBody>
          <a:bodyPr wrap="square">
            <a:spAutoFit/>
          </a:bodyPr>
          <a:p>
            <a:pPr algn="just">
              <a:lnSpc>
                <a:spcPct val="150000"/>
              </a:lnSpc>
            </a:pPr>
            <a:r>
              <a:rPr>
                <a:solidFill>
                  <a:srgbClr val="002060"/>
                </a:solidFill>
                <a:latin typeface="Times New Roman" panose="02020603050405020304"/>
                <a:ea typeface="Times New Roman" panose="02020603050405020304"/>
              </a:rPr>
              <a:t>Scrub typhus is a serious infectious disease transmitted by mite bites and is difficult to diagnose in its early stages because symptoms are similar to common febrile illnesses. Traditional diagnostic methods are time-consuming and may not be available in all healthcare settings, especially in rural areas. Clinical symptoms alone are often insufficient for accurate diagnosis, and visual indicators such as skin lesions (eschar) are sometimes overlooked. These challenges create the need for an automated, accurate, and reliable system. Therefore, this project proposes a multimodal machine learning approach that combines clinical data and skin image analysis to support early and precise scrub typhus detection.</a:t>
            </a:r>
            <a:endParaRPr>
              <a:solidFill>
                <a:srgbClr val="002060"/>
              </a:solidFill>
              <a:latin typeface="Times New Roman" panose="02020603050405020304"/>
              <a:ea typeface="Times New Roman" panose="020206030504050203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30445" y="332656"/>
            <a:ext cx="2786340" cy="584775"/>
          </a:xfrm>
          <a:prstGeom prst="rect">
            <a:avLst/>
          </a:prstGeom>
          <a:noFill/>
        </p:spPr>
        <p:txBody>
          <a:bodyPr wrap="none" rtlCol="0">
            <a:spAutoFit/>
          </a:bodyPr>
          <a:lstStyle/>
          <a:p>
            <a:pPr algn="ctr"/>
            <a:r>
              <a:rPr lang="en-IN" sz="3200" b="1" dirty="0">
                <a:solidFill>
                  <a:srgbClr val="002060"/>
                </a:solidFill>
                <a:latin typeface="Times New Roman" panose="02020603050405020304" pitchFamily="18" charset="0"/>
                <a:cs typeface="Times New Roman" panose="02020603050405020304" pitchFamily="18" charset="0"/>
              </a:rPr>
              <a:t>OBJECTIVES</a:t>
            </a:r>
            <a:endParaRPr lang="en-IN" sz="3200" dirty="0">
              <a:solidFill>
                <a:srgbClr val="00206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063750" y="1700530"/>
            <a:ext cx="8693785" cy="4093210"/>
          </a:xfrm>
          <a:prstGeom prst="rect">
            <a:avLst/>
          </a:prstGeom>
        </p:spPr>
        <p:txBody>
          <a:bodyPr wrap="square">
            <a:noAutofit/>
          </a:bodyPr>
          <a:p>
            <a:pPr marL="285750" indent="-285750" algn="just">
              <a:lnSpc>
                <a:spcPct val="150000"/>
              </a:lnSpc>
              <a:buFont typeface="Arial" panose="020B0604020202020204" pitchFamily="34" charset="0"/>
              <a:buChar char="•"/>
            </a:pPr>
            <a:r>
              <a:rPr lang="en-US" altLang="en-US">
                <a:solidFill>
                  <a:srgbClr val="002060"/>
                </a:solidFill>
                <a:latin typeface="Times New Roman" panose="02020603050405020304" pitchFamily="18" charset="0"/>
                <a:cs typeface="Times New Roman" panose="02020603050405020304" pitchFamily="18" charset="0"/>
              </a:rPr>
              <a:t>To develop a multimodal machine learning model for scrub typhus classification.</a:t>
            </a:r>
            <a:endParaRPr lang="en-US" altLang="en-US">
              <a:solidFill>
                <a:srgbClr val="002060"/>
              </a:solidFill>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en-US">
                <a:solidFill>
                  <a:srgbClr val="002060"/>
                </a:solidFill>
                <a:latin typeface="Times New Roman" panose="02020603050405020304" pitchFamily="18" charset="0"/>
                <a:cs typeface="Times New Roman" panose="02020603050405020304" pitchFamily="18" charset="0"/>
              </a:rPr>
              <a:t>To analyze clinical symptom data for disease prediction.</a:t>
            </a:r>
            <a:endParaRPr lang="en-US" altLang="en-US">
              <a:solidFill>
                <a:srgbClr val="002060"/>
              </a:solidFill>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en-US">
                <a:solidFill>
                  <a:srgbClr val="002060"/>
                </a:solidFill>
                <a:latin typeface="Times New Roman" panose="02020603050405020304" pitchFamily="18" charset="0"/>
                <a:cs typeface="Times New Roman" panose="02020603050405020304" pitchFamily="18" charset="0"/>
              </a:rPr>
              <a:t>To analyze skin lesion images using deep learning techniques.</a:t>
            </a:r>
            <a:endParaRPr lang="en-US" altLang="en-US">
              <a:solidFill>
                <a:srgbClr val="002060"/>
              </a:solidFill>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en-US">
                <a:solidFill>
                  <a:srgbClr val="002060"/>
                </a:solidFill>
                <a:latin typeface="Times New Roman" panose="02020603050405020304" pitchFamily="18" charset="0"/>
                <a:cs typeface="Times New Roman" panose="02020603050405020304" pitchFamily="18" charset="0"/>
              </a:rPr>
              <a:t>To use machine learning algorithms such as SVC and Random Forest for clinical data analysis.</a:t>
            </a:r>
            <a:endParaRPr lang="en-US" altLang="en-US">
              <a:solidFill>
                <a:srgbClr val="002060"/>
              </a:solidFill>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en-US">
                <a:solidFill>
                  <a:srgbClr val="002060"/>
                </a:solidFill>
                <a:latin typeface="Times New Roman" panose="02020603050405020304" pitchFamily="18" charset="0"/>
                <a:cs typeface="Times New Roman" panose="02020603050405020304" pitchFamily="18" charset="0"/>
              </a:rPr>
              <a:t>To apply Explainable AI techniques like SHAP and Grad-CAM++ to interpret model predictions.</a:t>
            </a:r>
            <a:endParaRPr lang="en-US" altLang="en-US">
              <a:solidFill>
                <a:srgbClr val="002060"/>
              </a:solidFill>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en-US">
                <a:solidFill>
                  <a:srgbClr val="002060"/>
                </a:solidFill>
                <a:latin typeface="Times New Roman" panose="02020603050405020304" pitchFamily="18" charset="0"/>
                <a:cs typeface="Times New Roman" panose="02020603050405020304" pitchFamily="18" charset="0"/>
              </a:rPr>
              <a:t>To improve the accuracy and reliability of scrub typhus detection.</a:t>
            </a:r>
            <a:endParaRPr lang="en-US" altLang="en-US">
              <a:solidFill>
                <a:srgbClr val="002060"/>
              </a:solidFill>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en-US">
                <a:solidFill>
                  <a:srgbClr val="002060"/>
                </a:solidFill>
                <a:latin typeface="Times New Roman" panose="02020603050405020304" pitchFamily="18" charset="0"/>
                <a:cs typeface="Times New Roman" panose="02020603050405020304" pitchFamily="18" charset="0"/>
              </a:rPr>
              <a:t>To support early diagnosis and assist healthcare professionals.</a:t>
            </a:r>
            <a:endParaRPr lang="en-US" altLang="en-US">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92671" y="332656"/>
            <a:ext cx="4750019" cy="584775"/>
          </a:xfrm>
          <a:prstGeom prst="rect">
            <a:avLst/>
          </a:prstGeom>
          <a:noFill/>
        </p:spPr>
        <p:txBody>
          <a:bodyPr wrap="none" rtlCol="0">
            <a:spAutoFit/>
          </a:bodyPr>
          <a:lstStyle/>
          <a:p>
            <a:pPr algn="ctr"/>
            <a:r>
              <a:rPr lang="en-US" sz="3200" b="1" dirty="0">
                <a:solidFill>
                  <a:srgbClr val="002060"/>
                </a:solidFill>
                <a:latin typeface="Times New Roman" panose="02020603050405020304" pitchFamily="18" charset="0"/>
                <a:cs typeface="Times New Roman" panose="02020603050405020304" pitchFamily="18" charset="0"/>
              </a:rPr>
              <a:t>LITERATURE  SURVEY</a:t>
            </a:r>
            <a:endParaRPr lang="en-IN" sz="32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4" name="Table 3"/>
          <p:cNvGraphicFramePr/>
          <p:nvPr/>
        </p:nvGraphicFramePr>
        <p:xfrm>
          <a:off x="1443990" y="1012190"/>
          <a:ext cx="10473690" cy="5555615"/>
        </p:xfrm>
        <a:graphic>
          <a:graphicData uri="http://schemas.openxmlformats.org/drawingml/2006/table">
            <a:tbl>
              <a:tblPr firstRow="1" bandRow="1">
                <a:tableStyleId>{5C22544A-7EE6-4342-B048-85BDC9FD1C3A}</a:tableStyleId>
              </a:tblPr>
              <a:tblGrid>
                <a:gridCol w="1189990"/>
                <a:gridCol w="2045335"/>
                <a:gridCol w="2412365"/>
                <a:gridCol w="1664970"/>
                <a:gridCol w="3161030"/>
              </a:tblGrid>
              <a:tr h="356870">
                <a:tc>
                  <a:txBody>
                    <a:bodyPr/>
                    <a:p>
                      <a:pPr algn="ctr"/>
                      <a:r>
                        <a:rPr sz="1800">
                          <a:latin typeface="Times New Roman" panose="02020603050405020304" pitchFamily="18" charset="0"/>
                          <a:cs typeface="Times New Roman" panose="02020603050405020304" pitchFamily="18" charset="0"/>
                        </a:rPr>
                        <a:t>Ref No</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800">
                          <a:latin typeface="Times New Roman" panose="02020603050405020304" pitchFamily="18" charset="0"/>
                          <a:cs typeface="Times New Roman" panose="02020603050405020304" pitchFamily="18" charset="0"/>
                        </a:rPr>
                        <a:t>Author / Year</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800">
                          <a:latin typeface="Times New Roman" panose="02020603050405020304" pitchFamily="18" charset="0"/>
                          <a:cs typeface="Times New Roman" panose="02020603050405020304" pitchFamily="18" charset="0"/>
                        </a:rPr>
                        <a:t>Method Used</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800">
                          <a:latin typeface="Times New Roman" panose="02020603050405020304" pitchFamily="18" charset="0"/>
                          <a:cs typeface="Times New Roman" panose="02020603050405020304" pitchFamily="18" charset="0"/>
                        </a:rPr>
                        <a:t>Data Used</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800">
                          <a:latin typeface="Times New Roman" panose="02020603050405020304" pitchFamily="18" charset="0"/>
                          <a:cs typeface="Times New Roman" panose="02020603050405020304" pitchFamily="18" charset="0"/>
                        </a:rPr>
                        <a:t>Key Contribution</a:t>
                      </a:r>
                      <a:endParaRPr sz="1800">
                        <a:latin typeface="Times New Roman" panose="02020603050405020304" pitchFamily="18" charset="0"/>
                        <a:cs typeface="Times New Roman" panose="02020603050405020304" pitchFamily="18" charset="0"/>
                      </a:endParaRPr>
                    </a:p>
                  </a:txBody>
                  <a:tcPr marL="0" marR="0" marT="0" marB="0" anchor="ctr" anchorCtr="0"/>
                </a:tc>
              </a:tr>
              <a:tr h="715645">
                <a:tc>
                  <a:txBody>
                    <a:bodyPr/>
                    <a:p>
                      <a:r>
                        <a:rPr sz="1800">
                          <a:latin typeface="Times New Roman" panose="02020603050405020304" pitchFamily="18" charset="0"/>
                          <a:cs typeface="Times New Roman" panose="02020603050405020304" pitchFamily="18" charset="0"/>
                        </a:rPr>
                        <a:t>[1]</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r>
                        <a:rPr sz="1800">
                          <a:latin typeface="Times New Roman" panose="02020603050405020304" pitchFamily="18" charset="0"/>
                          <a:cs typeface="Times New Roman" panose="02020603050405020304" pitchFamily="18" charset="0"/>
                        </a:rPr>
                        <a:t>Kala &amp; Sharma (2020)</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r>
                        <a:rPr sz="1800">
                          <a:latin typeface="Times New Roman" panose="02020603050405020304" pitchFamily="18" charset="0"/>
                          <a:cs typeface="Times New Roman" panose="02020603050405020304" pitchFamily="18" charset="0"/>
                        </a:rPr>
                        <a:t>Serological Tests</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r>
                        <a:rPr sz="1800">
                          <a:latin typeface="Times New Roman" panose="02020603050405020304" pitchFamily="18" charset="0"/>
                          <a:cs typeface="Times New Roman" panose="02020603050405020304" pitchFamily="18" charset="0"/>
                        </a:rPr>
                        <a:t>Clinical samples</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r>
                        <a:rPr sz="1800">
                          <a:latin typeface="Times New Roman" panose="02020603050405020304" pitchFamily="18" charset="0"/>
                          <a:cs typeface="Times New Roman" panose="02020603050405020304" pitchFamily="18" charset="0"/>
                        </a:rPr>
                        <a:t>Reviewed scrub typhus diagnostic methods.</a:t>
                      </a:r>
                      <a:endParaRPr sz="1800">
                        <a:latin typeface="Times New Roman" panose="02020603050405020304" pitchFamily="18" charset="0"/>
                        <a:cs typeface="Times New Roman" panose="02020603050405020304" pitchFamily="18" charset="0"/>
                      </a:endParaRPr>
                    </a:p>
                  </a:txBody>
                  <a:tcPr marL="0" marR="0" marT="0" marB="0" anchor="ctr" anchorCtr="0"/>
                </a:tc>
              </a:tr>
              <a:tr h="765810">
                <a:tc>
                  <a:txBody>
                    <a:bodyPr/>
                    <a:p>
                      <a:r>
                        <a:rPr sz="1800">
                          <a:latin typeface="Times New Roman" panose="02020603050405020304" pitchFamily="18" charset="0"/>
                          <a:cs typeface="Times New Roman" panose="02020603050405020304" pitchFamily="18" charset="0"/>
                        </a:rPr>
                        <a:t>[2]</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r>
                        <a:rPr sz="1800">
                          <a:latin typeface="Times New Roman" panose="02020603050405020304" pitchFamily="18" charset="0"/>
                          <a:cs typeface="Times New Roman" panose="02020603050405020304" pitchFamily="18" charset="0"/>
                        </a:rPr>
                        <a:t>Liao et al. (2021)</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r>
                        <a:rPr sz="1800">
                          <a:latin typeface="Times New Roman" panose="02020603050405020304" pitchFamily="18" charset="0"/>
                          <a:cs typeface="Times New Roman" panose="02020603050405020304" pitchFamily="18" charset="0"/>
                        </a:rPr>
                        <a:t>ELISA Diagnostic Platform</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r>
                        <a:rPr sz="1800">
                          <a:latin typeface="Times New Roman" panose="02020603050405020304" pitchFamily="18" charset="0"/>
                          <a:cs typeface="Times New Roman" panose="02020603050405020304" pitchFamily="18" charset="0"/>
                        </a:rPr>
                        <a:t>Blood samples</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r>
                        <a:rPr sz="1800">
                          <a:latin typeface="Times New Roman" panose="02020603050405020304" pitchFamily="18" charset="0"/>
                          <a:cs typeface="Times New Roman" panose="02020603050405020304" pitchFamily="18" charset="0"/>
                        </a:rPr>
                        <a:t>Improved scrub typhus detection using ELISA.</a:t>
                      </a:r>
                      <a:endParaRPr sz="1800">
                        <a:latin typeface="Times New Roman" panose="02020603050405020304" pitchFamily="18" charset="0"/>
                        <a:cs typeface="Times New Roman" panose="02020603050405020304" pitchFamily="18" charset="0"/>
                      </a:endParaRPr>
                    </a:p>
                  </a:txBody>
                  <a:tcPr marL="0" marR="0" marT="0" marB="0" anchor="ctr" anchorCtr="0"/>
                </a:tc>
              </a:tr>
              <a:tr h="927100">
                <a:tc>
                  <a:txBody>
                    <a:bodyPr/>
                    <a:p>
                      <a:r>
                        <a:rPr sz="1800">
                          <a:latin typeface="Times New Roman" panose="02020603050405020304" pitchFamily="18" charset="0"/>
                          <a:cs typeface="Times New Roman" panose="02020603050405020304" pitchFamily="18" charset="0"/>
                        </a:rPr>
                        <a:t>[3]</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r>
                        <a:rPr sz="1800">
                          <a:latin typeface="Times New Roman" panose="02020603050405020304" pitchFamily="18" charset="0"/>
                          <a:cs typeface="Times New Roman" panose="02020603050405020304" pitchFamily="18" charset="0"/>
                        </a:rPr>
                        <a:t>Kim et al. (2024)</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r>
                        <a:rPr sz="1800">
                          <a:latin typeface="Times New Roman" panose="02020603050405020304" pitchFamily="18" charset="0"/>
                          <a:cs typeface="Times New Roman" panose="02020603050405020304" pitchFamily="18" charset="0"/>
                        </a:rPr>
                        <a:t>Molecular Diagnostic Platform</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r>
                        <a:rPr sz="1800">
                          <a:latin typeface="Times New Roman" panose="02020603050405020304" pitchFamily="18" charset="0"/>
                          <a:cs typeface="Times New Roman" panose="02020603050405020304" pitchFamily="18" charset="0"/>
                        </a:rPr>
                        <a:t>Clinical samples</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r>
                        <a:rPr sz="1800">
                          <a:latin typeface="Times New Roman" panose="02020603050405020304" pitchFamily="18" charset="0"/>
                          <a:cs typeface="Times New Roman" panose="02020603050405020304" pitchFamily="18" charset="0"/>
                        </a:rPr>
                        <a:t>Developed molecular detection method.</a:t>
                      </a:r>
                      <a:endParaRPr sz="1800">
                        <a:latin typeface="Times New Roman" panose="02020603050405020304" pitchFamily="18" charset="0"/>
                        <a:cs typeface="Times New Roman" panose="02020603050405020304" pitchFamily="18" charset="0"/>
                      </a:endParaRPr>
                    </a:p>
                  </a:txBody>
                  <a:tcPr marL="0" marR="0" marT="0" marB="0" anchor="ctr" anchorCtr="0"/>
                </a:tc>
              </a:tr>
              <a:tr h="612140">
                <a:tc>
                  <a:txBody>
                    <a:bodyPr/>
                    <a:p>
                      <a:r>
                        <a:rPr sz="1800">
                          <a:latin typeface="Times New Roman" panose="02020603050405020304" pitchFamily="18" charset="0"/>
                          <a:cs typeface="Times New Roman" panose="02020603050405020304" pitchFamily="18" charset="0"/>
                        </a:rPr>
                        <a:t>[4]</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r>
                        <a:rPr sz="1800">
                          <a:latin typeface="Times New Roman" panose="02020603050405020304" pitchFamily="18" charset="0"/>
                          <a:cs typeface="Times New Roman" panose="02020603050405020304" pitchFamily="18" charset="0"/>
                        </a:rPr>
                        <a:t>Lu et al. (2025)</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r>
                        <a:rPr sz="1800">
                          <a:latin typeface="Times New Roman" panose="02020603050405020304" pitchFamily="18" charset="0"/>
                          <a:cs typeface="Times New Roman" panose="02020603050405020304" pitchFamily="18" charset="0"/>
                        </a:rPr>
                        <a:t>Machine Learning Model</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r>
                        <a:rPr sz="1800">
                          <a:latin typeface="Times New Roman" panose="02020603050405020304" pitchFamily="18" charset="0"/>
                          <a:cs typeface="Times New Roman" panose="02020603050405020304" pitchFamily="18" charset="0"/>
                        </a:rPr>
                        <a:t>Clinical data</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r>
                        <a:rPr sz="1800">
                          <a:latin typeface="Times New Roman" panose="02020603050405020304" pitchFamily="18" charset="0"/>
                          <a:cs typeface="Times New Roman" panose="02020603050405020304" pitchFamily="18" charset="0"/>
                        </a:rPr>
                        <a:t>Predicted scrub typhus severity using ML.</a:t>
                      </a:r>
                      <a:endParaRPr sz="1800">
                        <a:latin typeface="Times New Roman" panose="02020603050405020304" pitchFamily="18" charset="0"/>
                        <a:cs typeface="Times New Roman" panose="02020603050405020304" pitchFamily="18" charset="0"/>
                      </a:endParaRPr>
                    </a:p>
                  </a:txBody>
                  <a:tcPr marL="0" marR="0" marT="0" marB="0" anchor="ctr" anchorCtr="0"/>
                </a:tc>
              </a:tr>
              <a:tr h="761365">
                <a:tc>
                  <a:txBody>
                    <a:bodyPr/>
                    <a:p>
                      <a:r>
                        <a:rPr sz="1800">
                          <a:latin typeface="Times New Roman" panose="02020603050405020304" pitchFamily="18" charset="0"/>
                          <a:cs typeface="Times New Roman" panose="02020603050405020304" pitchFamily="18" charset="0"/>
                        </a:rPr>
                        <a:t>[5]</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r>
                        <a:rPr sz="1800">
                          <a:latin typeface="Times New Roman" panose="02020603050405020304" pitchFamily="18" charset="0"/>
                          <a:cs typeface="Times New Roman" panose="02020603050405020304" pitchFamily="18" charset="0"/>
                        </a:rPr>
                        <a:t>Kanchanapiboon et al. (2024)</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r>
                        <a:rPr sz="1800">
                          <a:latin typeface="Times New Roman" panose="02020603050405020304" pitchFamily="18" charset="0"/>
                          <a:cs typeface="Times New Roman" panose="02020603050405020304" pitchFamily="18" charset="0"/>
                        </a:rPr>
                        <a:t>Deep Learning (CNN)</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r>
                        <a:rPr sz="1800">
                          <a:latin typeface="Times New Roman" panose="02020603050405020304" pitchFamily="18" charset="0"/>
                          <a:cs typeface="Times New Roman" panose="02020603050405020304" pitchFamily="18" charset="0"/>
                        </a:rPr>
                        <a:t>Medical images</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r>
                        <a:rPr sz="1800">
                          <a:latin typeface="Times New Roman" panose="02020603050405020304" pitchFamily="18" charset="0"/>
                          <a:cs typeface="Times New Roman" panose="02020603050405020304" pitchFamily="18" charset="0"/>
                        </a:rPr>
                        <a:t>Used CNN for medical image analysis.</a:t>
                      </a:r>
                      <a:endParaRPr sz="1800">
                        <a:latin typeface="Times New Roman" panose="02020603050405020304" pitchFamily="18" charset="0"/>
                        <a:cs typeface="Times New Roman" panose="02020603050405020304" pitchFamily="18" charset="0"/>
                      </a:endParaRPr>
                    </a:p>
                  </a:txBody>
                  <a:tcPr marL="0" marR="0" marT="0" marB="0" anchor="ctr" anchorCtr="0"/>
                </a:tc>
              </a:tr>
              <a:tr h="633095">
                <a:tc>
                  <a:txBody>
                    <a:bodyPr/>
                    <a:p>
                      <a:r>
                        <a:rPr sz="1800">
                          <a:latin typeface="Times New Roman" panose="02020603050405020304" pitchFamily="18" charset="0"/>
                          <a:cs typeface="Times New Roman" panose="02020603050405020304" pitchFamily="18" charset="0"/>
                        </a:rPr>
                        <a:t>[6]</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r>
                        <a:rPr sz="1800">
                          <a:latin typeface="Times New Roman" panose="02020603050405020304" pitchFamily="18" charset="0"/>
                          <a:cs typeface="Times New Roman" panose="02020603050405020304" pitchFamily="18" charset="0"/>
                        </a:rPr>
                        <a:t>Li et al. (2021)</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r>
                        <a:rPr sz="1800">
                          <a:latin typeface="Times New Roman" panose="02020603050405020304" pitchFamily="18" charset="0"/>
                          <a:cs typeface="Times New Roman" panose="02020603050405020304" pitchFamily="18" charset="0"/>
                        </a:rPr>
                        <a:t>Biosensor Technology</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r>
                        <a:rPr sz="1800">
                          <a:latin typeface="Times New Roman" panose="02020603050405020304" pitchFamily="18" charset="0"/>
                          <a:cs typeface="Times New Roman" panose="02020603050405020304" pitchFamily="18" charset="0"/>
                        </a:rPr>
                        <a:t>DNA samples</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r>
                        <a:rPr sz="1800">
                          <a:latin typeface="Times New Roman" panose="02020603050405020304" pitchFamily="18" charset="0"/>
                          <a:cs typeface="Times New Roman" panose="02020603050405020304" pitchFamily="18" charset="0"/>
                        </a:rPr>
                        <a:t>Used biosensors for scrub typhus detection.</a:t>
                      </a:r>
                      <a:endParaRPr sz="1800">
                        <a:latin typeface="Times New Roman" panose="02020603050405020304" pitchFamily="18" charset="0"/>
                        <a:cs typeface="Times New Roman" panose="02020603050405020304" pitchFamily="18" charset="0"/>
                      </a:endParaRPr>
                    </a:p>
                  </a:txBody>
                  <a:tcPr marL="0" marR="0" marT="0" marB="0" anchor="ctr" anchorCtr="0"/>
                </a:tc>
              </a:tr>
              <a:tr h="783590">
                <a:tc>
                  <a:txBody>
                    <a:bodyPr/>
                    <a:p>
                      <a:r>
                        <a:rPr sz="1800" b="1">
                          <a:latin typeface="Times New Roman" panose="02020603050405020304" pitchFamily="18" charset="0"/>
                          <a:cs typeface="Times New Roman" panose="02020603050405020304" pitchFamily="18" charset="0"/>
                        </a:rPr>
                        <a:t>Proposed Work</a:t>
                      </a:r>
                      <a:endParaRPr sz="1800" b="1">
                        <a:latin typeface="Times New Roman" panose="02020603050405020304" pitchFamily="18" charset="0"/>
                        <a:cs typeface="Times New Roman" panose="02020603050405020304" pitchFamily="18" charset="0"/>
                      </a:endParaRPr>
                    </a:p>
                  </a:txBody>
                  <a:tcPr marL="0" marR="0" marT="0" marB="0" anchor="ctr" anchorCtr="0"/>
                </a:tc>
                <a:tc>
                  <a:txBody>
                    <a:bodyPr/>
                    <a:p>
                      <a:r>
                        <a:rPr sz="1800" b="1">
                          <a:latin typeface="Times New Roman" panose="02020603050405020304" pitchFamily="18" charset="0"/>
                          <a:cs typeface="Times New Roman" panose="02020603050405020304" pitchFamily="18" charset="0"/>
                        </a:rPr>
                        <a:t>This Project</a:t>
                      </a:r>
                      <a:endParaRPr sz="1800" b="1">
                        <a:latin typeface="Times New Roman" panose="02020603050405020304" pitchFamily="18" charset="0"/>
                        <a:cs typeface="Times New Roman" panose="02020603050405020304" pitchFamily="18" charset="0"/>
                      </a:endParaRPr>
                    </a:p>
                  </a:txBody>
                  <a:tcPr marL="0" marR="0" marT="0" marB="0" anchor="ctr" anchorCtr="0"/>
                </a:tc>
                <a:tc>
                  <a:txBody>
                    <a:bodyPr/>
                    <a:p>
                      <a:r>
                        <a:rPr sz="1800" b="1">
                          <a:latin typeface="Times New Roman" panose="02020603050405020304" pitchFamily="18" charset="0"/>
                          <a:cs typeface="Times New Roman" panose="02020603050405020304" pitchFamily="18" charset="0"/>
                        </a:rPr>
                        <a:t>Multimodal ML (Random Forest + CNN)</a:t>
                      </a:r>
                      <a:endParaRPr sz="1800" b="1">
                        <a:latin typeface="Times New Roman" panose="02020603050405020304" pitchFamily="18" charset="0"/>
                        <a:cs typeface="Times New Roman" panose="02020603050405020304" pitchFamily="18" charset="0"/>
                      </a:endParaRPr>
                    </a:p>
                  </a:txBody>
                  <a:tcPr marL="0" marR="0" marT="0" marB="0" anchor="ctr" anchorCtr="0"/>
                </a:tc>
                <a:tc>
                  <a:txBody>
                    <a:bodyPr/>
                    <a:p>
                      <a:r>
                        <a:rPr sz="1800" b="1">
                          <a:latin typeface="Times New Roman" panose="02020603050405020304" pitchFamily="18" charset="0"/>
                          <a:cs typeface="Times New Roman" panose="02020603050405020304" pitchFamily="18" charset="0"/>
                        </a:rPr>
                        <a:t>Clinical Data + Skin Images</a:t>
                      </a:r>
                      <a:endParaRPr sz="1800" b="1">
                        <a:latin typeface="Times New Roman" panose="02020603050405020304" pitchFamily="18" charset="0"/>
                        <a:cs typeface="Times New Roman" panose="02020603050405020304" pitchFamily="18" charset="0"/>
                      </a:endParaRPr>
                    </a:p>
                  </a:txBody>
                  <a:tcPr marL="0" marR="0" marT="0" marB="0" anchor="ctr" anchorCtr="0"/>
                </a:tc>
                <a:tc>
                  <a:txBody>
                    <a:bodyPr/>
                    <a:p>
                      <a:r>
                        <a:rPr sz="1800" b="1">
                          <a:latin typeface="Times New Roman" panose="02020603050405020304" pitchFamily="18" charset="0"/>
                          <a:cs typeface="Times New Roman" panose="02020603050405020304" pitchFamily="18" charset="0"/>
                        </a:rPr>
                        <a:t>Detects scrub typhus using clinical data and images.</a:t>
                      </a:r>
                      <a:endParaRPr sz="1800" b="1">
                        <a:latin typeface="Times New Roman" panose="02020603050405020304" pitchFamily="18" charset="0"/>
                        <a:cs typeface="Times New Roman" panose="02020603050405020304" pitchFamily="18" charset="0"/>
                      </a:endParaRPr>
                    </a:p>
                  </a:txBody>
                  <a:tcPr marL="0" marR="0" marT="0" marB="0" anchor="ctr" anchorCtr="0"/>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93034" y="332656"/>
            <a:ext cx="4208204" cy="584775"/>
          </a:xfrm>
          <a:prstGeom prst="rect">
            <a:avLst/>
          </a:prstGeom>
          <a:noFill/>
        </p:spPr>
        <p:txBody>
          <a:bodyPr wrap="none" rtlCol="0">
            <a:spAutoFit/>
          </a:bodyPr>
          <a:lstStyle/>
          <a:p>
            <a:pPr algn="ctr"/>
            <a:r>
              <a:rPr lang="en-IN" sz="3200" b="1" dirty="0">
                <a:solidFill>
                  <a:srgbClr val="002060"/>
                </a:solidFill>
                <a:latin typeface="Times New Roman" panose="02020603050405020304" pitchFamily="18" charset="0"/>
                <a:cs typeface="Times New Roman" panose="02020603050405020304" pitchFamily="18" charset="0"/>
              </a:rPr>
              <a:t>PROPOSED SYSTEM</a:t>
            </a:r>
            <a:endParaRPr lang="en-IN" sz="3200" dirty="0">
              <a:solidFill>
                <a:srgbClr val="00206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063750" y="1412875"/>
            <a:ext cx="9110345" cy="4695190"/>
          </a:xfrm>
          <a:prstGeom prst="rect">
            <a:avLst/>
          </a:prstGeom>
        </p:spPr>
        <p:txBody>
          <a:bodyPr wrap="square">
            <a:noAutofit/>
          </a:bodyPr>
          <a:p>
            <a:pPr algn="just">
              <a:lnSpc>
                <a:spcPct val="150000"/>
              </a:lnSpc>
            </a:pPr>
            <a:r>
              <a:rPr>
                <a:solidFill>
                  <a:srgbClr val="002060"/>
                </a:solidFill>
                <a:latin typeface="Times New Roman" panose="02020603050405020304" pitchFamily="18" charset="0"/>
                <a:cs typeface="Times New Roman" panose="02020603050405020304" pitchFamily="18" charset="0"/>
              </a:rPr>
              <a:t>The proposed system uses a multimodal machine learning approach to detect scrub typhus by using both clinical data and skin images. Clinical symptoms such as fever, headache, myalgia, eschar, chills, sweating, and vomiting are analyzed using machine learning algorithms like Random Forest and Support Vector Classifier (SVC). Skin lesion images are analyzed using a deep learning model (CNN) to identify patterns related to scrub typhus infection. The results from both the clinical model and the image model are then combined to make the final prediction. In addition, explainable AI techniques such as SHAP and Grad-CAM++ are used to understand how the model makes decisions and which features or image areas influence the prediction. This system helps improve the accuracy and reliability of scrub typhus detection and can support doctors in early diagnosis.</a:t>
            </a:r>
            <a:endParaRPr>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35940" y="260901"/>
            <a:ext cx="5307671" cy="584775"/>
          </a:xfrm>
          <a:prstGeom prst="rect">
            <a:avLst/>
          </a:prstGeom>
          <a:noFill/>
        </p:spPr>
        <p:txBody>
          <a:bodyPr wrap="none" rtlCol="0">
            <a:spAutoFit/>
          </a:bodyPr>
          <a:lstStyle/>
          <a:p>
            <a:pPr algn="ctr"/>
            <a:r>
              <a:rPr lang="en-IN" sz="3200" b="1" dirty="0">
                <a:solidFill>
                  <a:srgbClr val="002060"/>
                </a:solidFill>
                <a:latin typeface="Times New Roman" panose="02020603050405020304" pitchFamily="18" charset="0"/>
                <a:cs typeface="Times New Roman" panose="02020603050405020304" pitchFamily="18" charset="0"/>
              </a:rPr>
              <a:t>SYSTEM ARCHITECTURE</a:t>
            </a:r>
            <a:endParaRPr lang="en-IN" sz="3200" dirty="0">
              <a:solidFill>
                <a:srgbClr val="002060"/>
              </a:solidFill>
              <a:latin typeface="Times New Roman" panose="02020603050405020304" pitchFamily="18" charset="0"/>
              <a:cs typeface="Times New Roman" panose="02020603050405020304" pitchFamily="18" charset="0"/>
            </a:endParaRPr>
          </a:p>
        </p:txBody>
      </p:sp>
      <p:pic>
        <p:nvPicPr>
          <p:cNvPr id="7" name="Picture 6" descr="ChatGPT Image Apr 16, 2026, 09_52_19 PM(1)"/>
          <p:cNvPicPr>
            <a:picLocks noChangeAspect="1"/>
          </p:cNvPicPr>
          <p:nvPr/>
        </p:nvPicPr>
        <p:blipFill>
          <a:blip r:embed="rId1"/>
          <a:stretch>
            <a:fillRect/>
          </a:stretch>
        </p:blipFill>
        <p:spPr>
          <a:xfrm>
            <a:off x="1559560" y="1052830"/>
            <a:ext cx="10080625" cy="528256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68772" y="332656"/>
            <a:ext cx="6510693" cy="584775"/>
          </a:xfrm>
          <a:prstGeom prst="rect">
            <a:avLst/>
          </a:prstGeom>
          <a:noFill/>
        </p:spPr>
        <p:txBody>
          <a:bodyPr wrap="none" rtlCol="0">
            <a:spAutoFit/>
          </a:bodyPr>
          <a:lstStyle/>
          <a:p>
            <a:pPr algn="ctr"/>
            <a:r>
              <a:rPr lang="en-IN" sz="3200" b="1" dirty="0">
                <a:solidFill>
                  <a:srgbClr val="002060"/>
                </a:solidFill>
                <a:latin typeface="Times New Roman" panose="02020603050405020304" pitchFamily="18" charset="0"/>
                <a:cs typeface="Times New Roman" panose="02020603050405020304" pitchFamily="18" charset="0"/>
              </a:rPr>
              <a:t>METHODOLOGY / ALGORITHM</a:t>
            </a:r>
            <a:endParaRPr lang="en-IN" sz="3200" dirty="0">
              <a:solidFill>
                <a:srgbClr val="00206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629285" y="1136015"/>
            <a:ext cx="11007090" cy="5435600"/>
          </a:xfrm>
          <a:prstGeom prst="rect">
            <a:avLst/>
          </a:prstGeom>
        </p:spPr>
        <p:txBody>
          <a:bodyPr wrap="square">
            <a:noAutofit/>
          </a:bodyPr>
          <a:p>
            <a:pPr marL="342900" indent="-342900" algn="just">
              <a:lnSpc>
                <a:spcPct val="150000"/>
              </a:lnSpc>
              <a:buFont typeface="+mj-lt"/>
              <a:buAutoNum type="arabicPeriod"/>
            </a:pPr>
            <a:r>
              <a:rPr lang="en-US" altLang="en-US" b="1">
                <a:solidFill>
                  <a:srgbClr val="002060"/>
                </a:solidFill>
                <a:latin typeface="Times New Roman" panose="02020603050405020304" pitchFamily="18" charset="0"/>
                <a:cs typeface="Times New Roman" panose="02020603050405020304" pitchFamily="18" charset="0"/>
              </a:rPr>
              <a:t>Data Collection: </a:t>
            </a:r>
            <a:r>
              <a:rPr lang="en-US" altLang="en-US">
                <a:solidFill>
                  <a:srgbClr val="002060"/>
                </a:solidFill>
                <a:latin typeface="Times New Roman" panose="02020603050405020304" pitchFamily="18" charset="0"/>
                <a:cs typeface="Times New Roman" panose="02020603050405020304" pitchFamily="18" charset="0"/>
              </a:rPr>
              <a:t>Clinical symptom data and skin lesion images related to scrub typhus are collected.</a:t>
            </a:r>
            <a:endParaRPr lang="en-US" altLang="en-US">
              <a:solidFill>
                <a:srgbClr val="002060"/>
              </a:solidFill>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US" altLang="en-US" b="1">
                <a:solidFill>
                  <a:srgbClr val="002060"/>
                </a:solidFill>
                <a:latin typeface="Times New Roman" panose="02020603050405020304" pitchFamily="18" charset="0"/>
                <a:cs typeface="Times New Roman" panose="02020603050405020304" pitchFamily="18" charset="0"/>
              </a:rPr>
              <a:t>Data Preprocessing: </a:t>
            </a:r>
            <a:r>
              <a:rPr lang="en-US" altLang="en-US">
                <a:solidFill>
                  <a:srgbClr val="002060"/>
                </a:solidFill>
                <a:latin typeface="Times New Roman" panose="02020603050405020304" pitchFamily="18" charset="0"/>
                <a:cs typeface="Times New Roman" panose="02020603050405020304" pitchFamily="18" charset="0"/>
              </a:rPr>
              <a:t>Clinical data is cleaned and images are resized and normalized for model processing.</a:t>
            </a:r>
            <a:endParaRPr lang="en-US" altLang="en-US">
              <a:solidFill>
                <a:srgbClr val="002060"/>
              </a:solidFill>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US" altLang="en-US" b="1">
                <a:solidFill>
                  <a:srgbClr val="002060"/>
                </a:solidFill>
                <a:latin typeface="Times New Roman" panose="02020603050405020304" pitchFamily="18" charset="0"/>
                <a:cs typeface="Times New Roman" panose="02020603050405020304" pitchFamily="18" charset="0"/>
              </a:rPr>
              <a:t>Clinical Data Analysis: </a:t>
            </a:r>
            <a:r>
              <a:rPr lang="en-US" altLang="en-US">
                <a:solidFill>
                  <a:srgbClr val="002060"/>
                </a:solidFill>
                <a:latin typeface="Times New Roman" panose="02020603050405020304" pitchFamily="18" charset="0"/>
                <a:cs typeface="Times New Roman" panose="02020603050405020304" pitchFamily="18" charset="0"/>
              </a:rPr>
              <a:t>Random Forest and Support Vector Classifier (SVC) analyze clinical symptoms to predict scrub typhus.</a:t>
            </a:r>
            <a:endParaRPr lang="en-US" altLang="en-US">
              <a:solidFill>
                <a:srgbClr val="002060"/>
              </a:solidFill>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US" altLang="en-US" b="1">
                <a:solidFill>
                  <a:srgbClr val="002060"/>
                </a:solidFill>
                <a:latin typeface="Times New Roman" panose="02020603050405020304" pitchFamily="18" charset="0"/>
                <a:cs typeface="Times New Roman" panose="02020603050405020304" pitchFamily="18" charset="0"/>
              </a:rPr>
              <a:t>Image Classification: </a:t>
            </a:r>
            <a:r>
              <a:rPr lang="en-US" altLang="en-US">
                <a:solidFill>
                  <a:srgbClr val="002060"/>
                </a:solidFill>
                <a:latin typeface="Times New Roman" panose="02020603050405020304" pitchFamily="18" charset="0"/>
                <a:cs typeface="Times New Roman" panose="02020603050405020304" pitchFamily="18" charset="0"/>
              </a:rPr>
              <a:t>A Convolutional Neural Network (CNN) model analyzes skin lesion images to detect scrub typhus patterns.</a:t>
            </a:r>
            <a:endParaRPr lang="en-US" altLang="en-US">
              <a:solidFill>
                <a:srgbClr val="002060"/>
              </a:solidFill>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US" altLang="en-US" b="1">
                <a:solidFill>
                  <a:srgbClr val="002060"/>
                </a:solidFill>
                <a:latin typeface="Times New Roman" panose="02020603050405020304" pitchFamily="18" charset="0"/>
                <a:cs typeface="Times New Roman" panose="02020603050405020304" pitchFamily="18" charset="0"/>
              </a:rPr>
              <a:t>Explainable AI Analysis : </a:t>
            </a:r>
            <a:r>
              <a:rPr lang="en-US" altLang="en-US">
                <a:solidFill>
                  <a:srgbClr val="002060"/>
                </a:solidFill>
                <a:latin typeface="Times New Roman" panose="02020603050405020304" pitchFamily="18" charset="0"/>
                <a:cs typeface="Times New Roman" panose="02020603050405020304" pitchFamily="18" charset="0"/>
              </a:rPr>
              <a:t>SHAP explains clinical feature importance and Grad-CAM++ highlights important regions in images.</a:t>
            </a:r>
            <a:endParaRPr lang="en-US" altLang="en-US">
              <a:solidFill>
                <a:srgbClr val="002060"/>
              </a:solidFill>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US" altLang="en-US" b="1">
                <a:solidFill>
                  <a:srgbClr val="002060"/>
                </a:solidFill>
                <a:latin typeface="Times New Roman" panose="02020603050405020304" pitchFamily="18" charset="0"/>
                <a:cs typeface="Times New Roman" panose="02020603050405020304" pitchFamily="18" charset="0"/>
              </a:rPr>
              <a:t>Multimodal Prediction: </a:t>
            </a:r>
            <a:r>
              <a:rPr lang="en-US" altLang="en-US">
                <a:solidFill>
                  <a:srgbClr val="002060"/>
                </a:solidFill>
                <a:latin typeface="Times New Roman" panose="02020603050405020304" pitchFamily="18" charset="0"/>
                <a:cs typeface="Times New Roman" panose="02020603050405020304" pitchFamily="18" charset="0"/>
              </a:rPr>
              <a:t>Clinical and image model predictions are combined to produce the final result.</a:t>
            </a:r>
            <a:endParaRPr lang="en-US" altLang="en-US">
              <a:solidFill>
                <a:srgbClr val="002060"/>
              </a:solidFill>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US" altLang="en-US" b="1">
                <a:solidFill>
                  <a:srgbClr val="002060"/>
                </a:solidFill>
                <a:latin typeface="Times New Roman" panose="02020603050405020304" pitchFamily="18" charset="0"/>
                <a:cs typeface="Times New Roman" panose="02020603050405020304" pitchFamily="18" charset="0"/>
              </a:rPr>
              <a:t>Result Generation: </a:t>
            </a:r>
            <a:r>
              <a:rPr lang="en-US" altLang="en-US">
                <a:solidFill>
                  <a:srgbClr val="002060"/>
                </a:solidFill>
                <a:latin typeface="Times New Roman" panose="02020603050405020304" pitchFamily="18" charset="0"/>
                <a:cs typeface="Times New Roman" panose="02020603050405020304" pitchFamily="18" charset="0"/>
              </a:rPr>
              <a:t>The system outputs whether scrub typhus is detected or not with visual explanations.</a:t>
            </a:r>
            <a:endParaRPr lang="en-US" altLang="en-US">
              <a:solidFill>
                <a:srgbClr val="002060"/>
              </a:solidFill>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US" altLang="en-US" b="1">
                <a:solidFill>
                  <a:srgbClr val="002060"/>
                </a:solidFill>
                <a:latin typeface="Times New Roman" panose="02020603050405020304" pitchFamily="18" charset="0"/>
                <a:cs typeface="Times New Roman" panose="02020603050405020304" pitchFamily="18" charset="0"/>
              </a:rPr>
              <a:t>Algorithms Used: </a:t>
            </a:r>
            <a:r>
              <a:rPr lang="en-US" altLang="en-US">
                <a:solidFill>
                  <a:srgbClr val="002060"/>
                </a:solidFill>
                <a:latin typeface="Times New Roman" panose="02020603050405020304" pitchFamily="18" charset="0"/>
                <a:cs typeface="Times New Roman" panose="02020603050405020304" pitchFamily="18" charset="0"/>
              </a:rPr>
              <a:t>Random Forest, Support Vector Classifier (SVC), Convolutional Neural Network (CNN), SHAP, and Grad-CAM++.</a:t>
            </a:r>
            <a:endParaRPr lang="en-US" altLang="en-US">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00533" y="332656"/>
            <a:ext cx="4579843" cy="584775"/>
          </a:xfrm>
          <a:prstGeom prst="rect">
            <a:avLst/>
          </a:prstGeom>
          <a:noFill/>
        </p:spPr>
        <p:txBody>
          <a:bodyPr wrap="none" rtlCol="0">
            <a:spAutoFit/>
          </a:bodyPr>
          <a:lstStyle/>
          <a:p>
            <a:pPr algn="ctr"/>
            <a:r>
              <a:rPr lang="en-IN" sz="3200" b="1" dirty="0">
                <a:solidFill>
                  <a:srgbClr val="002060"/>
                </a:solidFill>
                <a:latin typeface="Times New Roman" panose="02020603050405020304" pitchFamily="18" charset="0"/>
                <a:cs typeface="Times New Roman" panose="02020603050405020304" pitchFamily="18" charset="0"/>
              </a:rPr>
              <a:t>RESULTS &amp; ANALYSIS</a:t>
            </a:r>
            <a:endParaRPr lang="en-IN" sz="3200" dirty="0">
              <a:solidFill>
                <a:srgbClr val="00206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872490" y="1269365"/>
            <a:ext cx="10325100" cy="1337945"/>
          </a:xfrm>
          <a:prstGeom prst="rect">
            <a:avLst/>
          </a:prstGeom>
        </p:spPr>
        <p:txBody>
          <a:bodyPr wrap="square">
            <a:spAutoFit/>
          </a:bodyPr>
          <a:p>
            <a:pPr algn="just">
              <a:lnSpc>
                <a:spcPct val="150000"/>
              </a:lnSpc>
            </a:pPr>
            <a:r>
              <a:rPr lang="en-US" altLang="en-US">
                <a:solidFill>
                  <a:srgbClr val="002060"/>
                </a:solidFill>
                <a:latin typeface="Times New Roman" panose="02020603050405020304" pitchFamily="18" charset="0"/>
                <a:cs typeface="Times New Roman" panose="02020603050405020304" pitchFamily="18" charset="0"/>
              </a:rPr>
              <a:t>The performance of the proposed multimodal machine learning model was evaluated using metrics such as accuracy, precision, recall, F1-score, and ROC-AUC. These results were compared with previous studies to analyze the improvement in scrub typhus detection performance.</a:t>
            </a:r>
            <a:endParaRPr lang="en-US" altLang="en-US">
              <a:solidFill>
                <a:srgbClr val="002060"/>
              </a:solidFill>
              <a:latin typeface="Times New Roman" panose="02020603050405020304" pitchFamily="18" charset="0"/>
              <a:cs typeface="Times New Roman" panose="02020603050405020304" pitchFamily="18" charset="0"/>
            </a:endParaRPr>
          </a:p>
        </p:txBody>
      </p:sp>
      <p:graphicFrame>
        <p:nvGraphicFramePr>
          <p:cNvPr id="4" name="Table 3"/>
          <p:cNvGraphicFramePr/>
          <p:nvPr/>
        </p:nvGraphicFramePr>
        <p:xfrm>
          <a:off x="828040" y="2597785"/>
          <a:ext cx="10787380" cy="3940810"/>
        </p:xfrm>
        <a:graphic>
          <a:graphicData uri="http://schemas.openxmlformats.org/drawingml/2006/table">
            <a:tbl>
              <a:tblPr firstRow="1" bandRow="1">
                <a:tableStyleId>{5C22544A-7EE6-4342-B048-85BDC9FD1C3A}</a:tableStyleId>
              </a:tblPr>
              <a:tblGrid>
                <a:gridCol w="1983105"/>
                <a:gridCol w="1621790"/>
                <a:gridCol w="1555115"/>
                <a:gridCol w="1675765"/>
                <a:gridCol w="1794510"/>
                <a:gridCol w="2157095"/>
              </a:tblGrid>
              <a:tr h="652780">
                <a:tc>
                  <a:txBody>
                    <a:bodyPr/>
                    <a:p>
                      <a:pPr algn="ctr"/>
                      <a:r>
                        <a:rPr sz="1800">
                          <a:latin typeface="Times New Roman" panose="02020603050405020304" pitchFamily="18" charset="0"/>
                          <a:cs typeface="Times New Roman" panose="02020603050405020304" pitchFamily="18" charset="0"/>
                        </a:rPr>
                        <a:t>Paper / Model</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800">
                          <a:latin typeface="Times New Roman" panose="02020603050405020304" pitchFamily="18" charset="0"/>
                          <a:cs typeface="Times New Roman" panose="02020603050405020304" pitchFamily="18" charset="0"/>
                        </a:rPr>
                        <a:t>Accuracy</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800">
                          <a:latin typeface="Times New Roman" panose="02020603050405020304" pitchFamily="18" charset="0"/>
                          <a:cs typeface="Times New Roman" panose="02020603050405020304" pitchFamily="18" charset="0"/>
                        </a:rPr>
                        <a:t>Precision</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800">
                          <a:latin typeface="Times New Roman" panose="02020603050405020304" pitchFamily="18" charset="0"/>
                          <a:cs typeface="Times New Roman" panose="02020603050405020304" pitchFamily="18" charset="0"/>
                        </a:rPr>
                        <a:t>Recall</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800">
                          <a:latin typeface="Times New Roman" panose="02020603050405020304" pitchFamily="18" charset="0"/>
                          <a:cs typeface="Times New Roman" panose="02020603050405020304" pitchFamily="18" charset="0"/>
                        </a:rPr>
                        <a:t>F1-Score</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800">
                          <a:latin typeface="Times New Roman" panose="02020603050405020304" pitchFamily="18" charset="0"/>
                          <a:cs typeface="Times New Roman" panose="02020603050405020304" pitchFamily="18" charset="0"/>
                        </a:rPr>
                        <a:t>ROC-AUC</a:t>
                      </a:r>
                      <a:endParaRPr sz="1800">
                        <a:latin typeface="Times New Roman" panose="02020603050405020304" pitchFamily="18" charset="0"/>
                        <a:cs typeface="Times New Roman" panose="02020603050405020304" pitchFamily="18" charset="0"/>
                      </a:endParaRPr>
                    </a:p>
                  </a:txBody>
                  <a:tcPr marL="0" marR="0" marT="0" marB="0" anchor="ctr" anchorCtr="0"/>
                </a:tc>
              </a:tr>
              <a:tr h="822960">
                <a:tc>
                  <a:txBody>
                    <a:bodyPr/>
                    <a:p>
                      <a:r>
                        <a:rPr sz="1800">
                          <a:latin typeface="Times New Roman" panose="02020603050405020304" pitchFamily="18" charset="0"/>
                          <a:cs typeface="Times New Roman" panose="02020603050405020304" pitchFamily="18" charset="0"/>
                        </a:rPr>
                        <a:t>Lu et al. (2025) – ML Prognostic Model</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800">
                          <a:latin typeface="Times New Roman" panose="02020603050405020304" pitchFamily="18" charset="0"/>
                          <a:cs typeface="Times New Roman" panose="02020603050405020304" pitchFamily="18" charset="0"/>
                        </a:rPr>
                        <a:t>0.65</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800">
                          <a:latin typeface="Times New Roman" panose="02020603050405020304" pitchFamily="18" charset="0"/>
                          <a:cs typeface="Times New Roman" panose="02020603050405020304" pitchFamily="18" charset="0"/>
                        </a:rPr>
                        <a:t>0.70</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800">
                          <a:latin typeface="Times New Roman" panose="02020603050405020304" pitchFamily="18" charset="0"/>
                          <a:cs typeface="Times New Roman" panose="02020603050405020304" pitchFamily="18" charset="0"/>
                        </a:rPr>
                        <a:t>0.55</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800">
                          <a:latin typeface="Times New Roman" panose="02020603050405020304" pitchFamily="18" charset="0"/>
                          <a:cs typeface="Times New Roman" panose="02020603050405020304" pitchFamily="18" charset="0"/>
                        </a:rPr>
                        <a:t>0.68</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800">
                          <a:latin typeface="Times New Roman" panose="02020603050405020304" pitchFamily="18" charset="0"/>
                          <a:cs typeface="Times New Roman" panose="02020603050405020304" pitchFamily="18" charset="0"/>
                        </a:rPr>
                        <a:t>0.56</a:t>
                      </a:r>
                      <a:endParaRPr sz="1800">
                        <a:latin typeface="Times New Roman" panose="02020603050405020304" pitchFamily="18" charset="0"/>
                        <a:cs typeface="Times New Roman" panose="02020603050405020304" pitchFamily="18" charset="0"/>
                      </a:endParaRPr>
                    </a:p>
                  </a:txBody>
                  <a:tcPr marL="0" marR="0" marT="0" marB="0" anchor="ctr" anchorCtr="0"/>
                </a:tc>
              </a:tr>
              <a:tr h="822960">
                <a:tc>
                  <a:txBody>
                    <a:bodyPr/>
                    <a:p>
                      <a:r>
                        <a:rPr sz="1800">
                          <a:latin typeface="Times New Roman" panose="02020603050405020304" pitchFamily="18" charset="0"/>
                          <a:cs typeface="Times New Roman" panose="02020603050405020304" pitchFamily="18" charset="0"/>
                        </a:rPr>
                        <a:t>Kanchanapiboon et al. (2024) – CNN Model</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800">
                          <a:latin typeface="Times New Roman" panose="02020603050405020304" pitchFamily="18" charset="0"/>
                          <a:cs typeface="Times New Roman" panose="02020603050405020304" pitchFamily="18" charset="0"/>
                        </a:rPr>
                        <a:t>0.72</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800">
                          <a:latin typeface="Times New Roman" panose="02020603050405020304" pitchFamily="18" charset="0"/>
                          <a:cs typeface="Times New Roman" panose="02020603050405020304" pitchFamily="18" charset="0"/>
                        </a:rPr>
                        <a:t>0.71</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800">
                          <a:latin typeface="Times New Roman" panose="02020603050405020304" pitchFamily="18" charset="0"/>
                          <a:cs typeface="Times New Roman" panose="02020603050405020304" pitchFamily="18" charset="0"/>
                        </a:rPr>
                        <a:t>0.60</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800">
                          <a:latin typeface="Times New Roman" panose="02020603050405020304" pitchFamily="18" charset="0"/>
                          <a:cs typeface="Times New Roman" panose="02020603050405020304" pitchFamily="18" charset="0"/>
                        </a:rPr>
                        <a:t>0.70</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800">
                          <a:latin typeface="Times New Roman" panose="02020603050405020304" pitchFamily="18" charset="0"/>
                          <a:cs typeface="Times New Roman" panose="02020603050405020304" pitchFamily="18" charset="0"/>
                        </a:rPr>
                        <a:t>0.60</a:t>
                      </a:r>
                      <a:endParaRPr sz="1800">
                        <a:latin typeface="Times New Roman" panose="02020603050405020304" pitchFamily="18" charset="0"/>
                        <a:cs typeface="Times New Roman" panose="02020603050405020304" pitchFamily="18" charset="0"/>
                      </a:endParaRPr>
                    </a:p>
                  </a:txBody>
                  <a:tcPr marL="0" marR="0" marT="0" marB="0" anchor="ctr" anchorCtr="0"/>
                </a:tc>
              </a:tr>
              <a:tr h="785495">
                <a:tc>
                  <a:txBody>
                    <a:bodyPr/>
                    <a:p>
                      <a:r>
                        <a:rPr sz="1800">
                          <a:latin typeface="Times New Roman" panose="02020603050405020304" pitchFamily="18" charset="0"/>
                          <a:cs typeface="Times New Roman" panose="02020603050405020304" pitchFamily="18" charset="0"/>
                        </a:rPr>
                        <a:t>Li et al. (2021) – Biosensor Detection</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800">
                          <a:latin typeface="Times New Roman" panose="02020603050405020304" pitchFamily="18" charset="0"/>
                          <a:cs typeface="Times New Roman" panose="02020603050405020304" pitchFamily="18" charset="0"/>
                        </a:rPr>
                        <a:t>0.69</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800">
                          <a:latin typeface="Times New Roman" panose="02020603050405020304" pitchFamily="18" charset="0"/>
                          <a:cs typeface="Times New Roman" panose="02020603050405020304" pitchFamily="18" charset="0"/>
                        </a:rPr>
                        <a:t>0.65</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800">
                          <a:latin typeface="Times New Roman" panose="02020603050405020304" pitchFamily="18" charset="0"/>
                          <a:cs typeface="Times New Roman" panose="02020603050405020304" pitchFamily="18" charset="0"/>
                        </a:rPr>
                        <a:t>0.71</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800">
                          <a:latin typeface="Times New Roman" panose="02020603050405020304" pitchFamily="18" charset="0"/>
                          <a:cs typeface="Times New Roman" panose="02020603050405020304" pitchFamily="18" charset="0"/>
                        </a:rPr>
                        <a:t>0.65</a:t>
                      </a:r>
                      <a:endParaRPr sz="180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800">
                          <a:latin typeface="Times New Roman" panose="02020603050405020304" pitchFamily="18" charset="0"/>
                          <a:cs typeface="Times New Roman" panose="02020603050405020304" pitchFamily="18" charset="0"/>
                        </a:rPr>
                        <a:t>0.65</a:t>
                      </a:r>
                      <a:endParaRPr sz="1800">
                        <a:latin typeface="Times New Roman" panose="02020603050405020304" pitchFamily="18" charset="0"/>
                        <a:cs typeface="Times New Roman" panose="02020603050405020304" pitchFamily="18" charset="0"/>
                      </a:endParaRPr>
                    </a:p>
                  </a:txBody>
                  <a:tcPr marL="0" marR="0" marT="0" marB="0" anchor="ctr" anchorCtr="0"/>
                </a:tc>
              </a:tr>
              <a:tr h="856615">
                <a:tc>
                  <a:txBody>
                    <a:bodyPr/>
                    <a:p>
                      <a:r>
                        <a:rPr sz="1800" b="1">
                          <a:latin typeface="Times New Roman" panose="02020603050405020304" pitchFamily="18" charset="0"/>
                          <a:cs typeface="Times New Roman" panose="02020603050405020304" pitchFamily="18" charset="0"/>
                        </a:rPr>
                        <a:t>Proposed Multimodal Model (This Work)</a:t>
                      </a:r>
                      <a:endParaRPr sz="1800" b="1">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800" b="1">
                          <a:latin typeface="Times New Roman" panose="02020603050405020304" pitchFamily="18" charset="0"/>
                          <a:cs typeface="Times New Roman" panose="02020603050405020304" pitchFamily="18" charset="0"/>
                        </a:rPr>
                        <a:t>0.75</a:t>
                      </a:r>
                      <a:endParaRPr sz="1800" b="1">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800" b="1">
                          <a:latin typeface="Times New Roman" panose="02020603050405020304" pitchFamily="18" charset="0"/>
                          <a:cs typeface="Times New Roman" panose="02020603050405020304" pitchFamily="18" charset="0"/>
                        </a:rPr>
                        <a:t>0.74</a:t>
                      </a:r>
                      <a:endParaRPr sz="1800" b="1">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800" b="1">
                          <a:latin typeface="Times New Roman" panose="02020603050405020304" pitchFamily="18" charset="0"/>
                          <a:cs typeface="Times New Roman" panose="02020603050405020304" pitchFamily="18" charset="0"/>
                        </a:rPr>
                        <a:t>0.73</a:t>
                      </a:r>
                      <a:endParaRPr sz="1800" b="1">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800" b="1">
                          <a:latin typeface="Times New Roman" panose="02020603050405020304" pitchFamily="18" charset="0"/>
                          <a:cs typeface="Times New Roman" panose="02020603050405020304" pitchFamily="18" charset="0"/>
                        </a:rPr>
                        <a:t>0.73</a:t>
                      </a:r>
                      <a:endParaRPr sz="1800" b="1">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800" b="1">
                          <a:latin typeface="Times New Roman" panose="02020603050405020304" pitchFamily="18" charset="0"/>
                          <a:cs typeface="Times New Roman" panose="02020603050405020304" pitchFamily="18" charset="0"/>
                        </a:rPr>
                        <a:t>0.78</a:t>
                      </a:r>
                      <a:endParaRPr sz="1800" b="1">
                        <a:latin typeface="Times New Roman" panose="02020603050405020304" pitchFamily="18" charset="0"/>
                        <a:cs typeface="Times New Roman" panose="02020603050405020304" pitchFamily="18" charset="0"/>
                      </a:endParaRPr>
                    </a:p>
                  </a:txBody>
                  <a:tcPr marL="0" marR="0" marT="0" marB="0" anchor="ctr" anchorCtr="0"/>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822663" y="332656"/>
            <a:ext cx="4735592" cy="584775"/>
          </a:xfrm>
          <a:prstGeom prst="rect">
            <a:avLst/>
          </a:prstGeom>
          <a:noFill/>
        </p:spPr>
        <p:txBody>
          <a:bodyPr wrap="none" rtlCol="0">
            <a:spAutoFit/>
          </a:bodyPr>
          <a:lstStyle/>
          <a:p>
            <a:pPr algn="ctr"/>
            <a:r>
              <a:rPr lang="en-IN" sz="3200" b="1" dirty="0">
                <a:solidFill>
                  <a:srgbClr val="002060"/>
                </a:solidFill>
                <a:latin typeface="Times New Roman" panose="02020603050405020304" pitchFamily="18" charset="0"/>
                <a:cs typeface="Times New Roman" panose="02020603050405020304" pitchFamily="18" charset="0"/>
              </a:rPr>
              <a:t>TECHNOLOGIES USED</a:t>
            </a:r>
            <a:endParaRPr lang="en-IN" sz="3200" dirty="0">
              <a:solidFill>
                <a:srgbClr val="00206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1631315" y="1250950"/>
            <a:ext cx="9125585" cy="4203065"/>
          </a:xfrm>
          <a:prstGeom prst="rect">
            <a:avLst/>
          </a:prstGeom>
        </p:spPr>
        <p:txBody>
          <a:bodyPr wrap="square">
            <a:noAutofit/>
          </a:bodyPr>
          <a:p>
            <a:pPr algn="just">
              <a:lnSpc>
                <a:spcPct val="150000"/>
              </a:lnSpc>
            </a:pPr>
            <a:r>
              <a:rPr b="1">
                <a:solidFill>
                  <a:srgbClr val="002060"/>
                </a:solidFill>
                <a:latin typeface="Times New Roman" panose="02020603050405020304" pitchFamily="18" charset="0"/>
                <a:cs typeface="Times New Roman" panose="02020603050405020304" pitchFamily="18" charset="0"/>
              </a:rPr>
              <a:t>Programming Language</a:t>
            </a:r>
            <a:r>
              <a:rPr lang="en-US" b="1">
                <a:solidFill>
                  <a:srgbClr val="002060"/>
                </a:solidFill>
                <a:latin typeface="Times New Roman" panose="02020603050405020304" pitchFamily="18" charset="0"/>
                <a:cs typeface="Times New Roman" panose="02020603050405020304" pitchFamily="18" charset="0"/>
              </a:rPr>
              <a:t>: </a:t>
            </a:r>
            <a:r>
              <a:rPr>
                <a:solidFill>
                  <a:srgbClr val="002060"/>
                </a:solidFill>
                <a:latin typeface="Times New Roman" panose="02020603050405020304" pitchFamily="18" charset="0"/>
                <a:cs typeface="Times New Roman" panose="02020603050405020304" pitchFamily="18" charset="0"/>
              </a:rPr>
              <a:t>Python </a:t>
            </a:r>
            <a:endParaRPr>
              <a:solidFill>
                <a:srgbClr val="002060"/>
              </a:solidFill>
              <a:latin typeface="Times New Roman" panose="02020603050405020304" pitchFamily="18" charset="0"/>
              <a:cs typeface="Times New Roman" panose="02020603050405020304" pitchFamily="18" charset="0"/>
            </a:endParaRPr>
          </a:p>
          <a:p>
            <a:pPr algn="just">
              <a:lnSpc>
                <a:spcPct val="150000"/>
              </a:lnSpc>
            </a:pPr>
            <a:r>
              <a:rPr b="1">
                <a:solidFill>
                  <a:srgbClr val="002060"/>
                </a:solidFill>
                <a:latin typeface="Times New Roman" panose="02020603050405020304" pitchFamily="18" charset="0"/>
                <a:cs typeface="Times New Roman" panose="02020603050405020304" pitchFamily="18" charset="0"/>
              </a:rPr>
              <a:t>Machine Learning Algorithms</a:t>
            </a:r>
            <a:r>
              <a:rPr lang="en-US" b="1">
                <a:solidFill>
                  <a:srgbClr val="002060"/>
                </a:solidFill>
                <a:latin typeface="Times New Roman" panose="02020603050405020304" pitchFamily="18" charset="0"/>
                <a:cs typeface="Times New Roman" panose="02020603050405020304" pitchFamily="18" charset="0"/>
              </a:rPr>
              <a:t>: </a:t>
            </a:r>
            <a:r>
              <a:rPr>
                <a:solidFill>
                  <a:srgbClr val="002060"/>
                </a:solidFill>
                <a:latin typeface="Times New Roman" panose="02020603050405020304" pitchFamily="18" charset="0"/>
                <a:cs typeface="Times New Roman" panose="02020603050405020304" pitchFamily="18" charset="0"/>
              </a:rPr>
              <a:t>Random Forest </a:t>
            </a:r>
            <a:r>
              <a:rPr lang="en-US">
                <a:solidFill>
                  <a:srgbClr val="002060"/>
                </a:solidFill>
                <a:latin typeface="Times New Roman" panose="02020603050405020304" pitchFamily="18" charset="0"/>
                <a:cs typeface="Times New Roman" panose="02020603050405020304" pitchFamily="18" charset="0"/>
              </a:rPr>
              <a:t>, </a:t>
            </a:r>
            <a:r>
              <a:rPr>
                <a:solidFill>
                  <a:srgbClr val="002060"/>
                </a:solidFill>
                <a:latin typeface="Times New Roman" panose="02020603050405020304" pitchFamily="18" charset="0"/>
                <a:cs typeface="Times New Roman" panose="02020603050405020304" pitchFamily="18" charset="0"/>
              </a:rPr>
              <a:t>Support Vector Classifier (SVC)</a:t>
            </a:r>
            <a:r>
              <a:rPr lang="en-US">
                <a:solidFill>
                  <a:srgbClr val="002060"/>
                </a:solidFill>
                <a:latin typeface="Times New Roman" panose="02020603050405020304" pitchFamily="18" charset="0"/>
                <a:cs typeface="Times New Roman" panose="02020603050405020304" pitchFamily="18" charset="0"/>
              </a:rPr>
              <a:t>, </a:t>
            </a:r>
            <a:r>
              <a:rPr>
                <a:solidFill>
                  <a:srgbClr val="002060"/>
                </a:solidFill>
                <a:latin typeface="Times New Roman" panose="02020603050405020304" pitchFamily="18" charset="0"/>
                <a:cs typeface="Times New Roman" panose="02020603050405020304" pitchFamily="18" charset="0"/>
              </a:rPr>
              <a:t>Convolutional Neural Network (CNN) </a:t>
            </a:r>
            <a:endParaRPr>
              <a:solidFill>
                <a:srgbClr val="002060"/>
              </a:solidFill>
              <a:latin typeface="Times New Roman" panose="02020603050405020304" pitchFamily="18" charset="0"/>
              <a:cs typeface="Times New Roman" panose="02020603050405020304" pitchFamily="18" charset="0"/>
            </a:endParaRPr>
          </a:p>
          <a:p>
            <a:pPr algn="just">
              <a:lnSpc>
                <a:spcPct val="150000"/>
              </a:lnSpc>
            </a:pPr>
            <a:r>
              <a:rPr b="1">
                <a:solidFill>
                  <a:srgbClr val="002060"/>
                </a:solidFill>
                <a:latin typeface="Times New Roman" panose="02020603050405020304" pitchFamily="18" charset="0"/>
                <a:cs typeface="Times New Roman" panose="02020603050405020304" pitchFamily="18" charset="0"/>
              </a:rPr>
              <a:t>Libraries / Frameworks</a:t>
            </a:r>
            <a:r>
              <a:rPr lang="en-US" b="1">
                <a:solidFill>
                  <a:srgbClr val="002060"/>
                </a:solidFill>
                <a:latin typeface="Times New Roman" panose="02020603050405020304" pitchFamily="18" charset="0"/>
                <a:cs typeface="Times New Roman" panose="02020603050405020304" pitchFamily="18" charset="0"/>
              </a:rPr>
              <a:t>: </a:t>
            </a:r>
            <a:r>
              <a:rPr>
                <a:solidFill>
                  <a:srgbClr val="002060"/>
                </a:solidFill>
                <a:latin typeface="Times New Roman" panose="02020603050405020304" pitchFamily="18" charset="0"/>
                <a:cs typeface="Times New Roman" panose="02020603050405020304" pitchFamily="18" charset="0"/>
              </a:rPr>
              <a:t>Pandas</a:t>
            </a:r>
            <a:r>
              <a:rPr lang="en-US">
                <a:solidFill>
                  <a:srgbClr val="002060"/>
                </a:solidFill>
                <a:latin typeface="Times New Roman" panose="02020603050405020304" pitchFamily="18" charset="0"/>
                <a:cs typeface="Times New Roman" panose="02020603050405020304" pitchFamily="18" charset="0"/>
              </a:rPr>
              <a:t>, </a:t>
            </a:r>
            <a:r>
              <a:rPr>
                <a:solidFill>
                  <a:srgbClr val="002060"/>
                </a:solidFill>
                <a:latin typeface="Times New Roman" panose="02020603050405020304" pitchFamily="18" charset="0"/>
                <a:cs typeface="Times New Roman" panose="02020603050405020304" pitchFamily="18" charset="0"/>
              </a:rPr>
              <a:t>NumPy</a:t>
            </a:r>
            <a:r>
              <a:rPr lang="en-US">
                <a:solidFill>
                  <a:srgbClr val="002060"/>
                </a:solidFill>
                <a:latin typeface="Times New Roman" panose="02020603050405020304" pitchFamily="18" charset="0"/>
                <a:cs typeface="Times New Roman" panose="02020603050405020304" pitchFamily="18" charset="0"/>
              </a:rPr>
              <a:t>, </a:t>
            </a:r>
            <a:r>
              <a:rPr>
                <a:solidFill>
                  <a:srgbClr val="002060"/>
                </a:solidFill>
                <a:latin typeface="Times New Roman" panose="02020603050405020304" pitchFamily="18" charset="0"/>
                <a:cs typeface="Times New Roman" panose="02020603050405020304" pitchFamily="18" charset="0"/>
              </a:rPr>
              <a:t>Scikit-learn</a:t>
            </a:r>
            <a:r>
              <a:rPr lang="en-US">
                <a:solidFill>
                  <a:srgbClr val="002060"/>
                </a:solidFill>
                <a:latin typeface="Times New Roman" panose="02020603050405020304" pitchFamily="18" charset="0"/>
                <a:cs typeface="Times New Roman" panose="02020603050405020304" pitchFamily="18" charset="0"/>
              </a:rPr>
              <a:t>, </a:t>
            </a:r>
            <a:r>
              <a:rPr>
                <a:solidFill>
                  <a:srgbClr val="002060"/>
                </a:solidFill>
                <a:latin typeface="Times New Roman" panose="02020603050405020304" pitchFamily="18" charset="0"/>
                <a:cs typeface="Times New Roman" panose="02020603050405020304" pitchFamily="18" charset="0"/>
              </a:rPr>
              <a:t>PyTorch / TensorFlow</a:t>
            </a:r>
            <a:r>
              <a:rPr lang="en-US">
                <a:solidFill>
                  <a:srgbClr val="002060"/>
                </a:solidFill>
                <a:latin typeface="Times New Roman" panose="02020603050405020304" pitchFamily="18" charset="0"/>
                <a:cs typeface="Times New Roman" panose="02020603050405020304" pitchFamily="18" charset="0"/>
              </a:rPr>
              <a:t>, </a:t>
            </a:r>
            <a:r>
              <a:rPr>
                <a:solidFill>
                  <a:srgbClr val="002060"/>
                </a:solidFill>
                <a:latin typeface="Times New Roman" panose="02020603050405020304" pitchFamily="18" charset="0"/>
                <a:cs typeface="Times New Roman" panose="02020603050405020304" pitchFamily="18" charset="0"/>
              </a:rPr>
              <a:t>Matplotlib</a:t>
            </a:r>
            <a:r>
              <a:rPr lang="en-US">
                <a:solidFill>
                  <a:srgbClr val="002060"/>
                </a:solidFill>
                <a:latin typeface="Times New Roman" panose="02020603050405020304" pitchFamily="18" charset="0"/>
                <a:cs typeface="Times New Roman" panose="02020603050405020304" pitchFamily="18" charset="0"/>
              </a:rPr>
              <a:t>, </a:t>
            </a:r>
            <a:r>
              <a:rPr>
                <a:solidFill>
                  <a:srgbClr val="002060"/>
                </a:solidFill>
                <a:latin typeface="Times New Roman" panose="02020603050405020304" pitchFamily="18" charset="0"/>
                <a:cs typeface="Times New Roman" panose="02020603050405020304" pitchFamily="18" charset="0"/>
              </a:rPr>
              <a:t>SHAP </a:t>
            </a:r>
            <a:endParaRPr>
              <a:solidFill>
                <a:srgbClr val="002060"/>
              </a:solidFill>
              <a:latin typeface="Times New Roman" panose="02020603050405020304" pitchFamily="18" charset="0"/>
              <a:cs typeface="Times New Roman" panose="02020603050405020304" pitchFamily="18" charset="0"/>
            </a:endParaRPr>
          </a:p>
          <a:p>
            <a:pPr algn="just">
              <a:lnSpc>
                <a:spcPct val="150000"/>
              </a:lnSpc>
            </a:pPr>
            <a:r>
              <a:rPr b="1">
                <a:solidFill>
                  <a:srgbClr val="002060"/>
                </a:solidFill>
                <a:latin typeface="Times New Roman" panose="02020603050405020304" pitchFamily="18" charset="0"/>
                <a:cs typeface="Times New Roman" panose="02020603050405020304" pitchFamily="18" charset="0"/>
              </a:rPr>
              <a:t>Image Processing</a:t>
            </a:r>
            <a:r>
              <a:rPr lang="en-US" b="1">
                <a:solidFill>
                  <a:srgbClr val="002060"/>
                </a:solidFill>
                <a:latin typeface="Times New Roman" panose="02020603050405020304" pitchFamily="18" charset="0"/>
                <a:cs typeface="Times New Roman" panose="02020603050405020304" pitchFamily="18" charset="0"/>
              </a:rPr>
              <a:t>: </a:t>
            </a:r>
            <a:r>
              <a:rPr>
                <a:solidFill>
                  <a:srgbClr val="002060"/>
                </a:solidFill>
                <a:latin typeface="Times New Roman" panose="02020603050405020304" pitchFamily="18" charset="0"/>
                <a:cs typeface="Times New Roman" panose="02020603050405020304" pitchFamily="18" charset="0"/>
              </a:rPr>
              <a:t>OpenCV</a:t>
            </a:r>
            <a:r>
              <a:rPr lang="en-US">
                <a:solidFill>
                  <a:srgbClr val="002060"/>
                </a:solidFill>
                <a:latin typeface="Times New Roman" panose="02020603050405020304" pitchFamily="18" charset="0"/>
                <a:cs typeface="Times New Roman" panose="02020603050405020304" pitchFamily="18" charset="0"/>
              </a:rPr>
              <a:t>, </a:t>
            </a:r>
            <a:r>
              <a:rPr>
                <a:solidFill>
                  <a:srgbClr val="002060"/>
                </a:solidFill>
                <a:latin typeface="Times New Roman" panose="02020603050405020304" pitchFamily="18" charset="0"/>
                <a:cs typeface="Times New Roman" panose="02020603050405020304" pitchFamily="18" charset="0"/>
              </a:rPr>
              <a:t> Grad-CAM++</a:t>
            </a:r>
            <a:r>
              <a:rPr lang="en-US">
                <a:solidFill>
                  <a:srgbClr val="002060"/>
                </a:solidFill>
                <a:latin typeface="Times New Roman" panose="02020603050405020304" pitchFamily="18" charset="0"/>
                <a:cs typeface="Times New Roman" panose="02020603050405020304" pitchFamily="18" charset="0"/>
              </a:rPr>
              <a:t>,  </a:t>
            </a:r>
            <a:r>
              <a:rPr>
                <a:solidFill>
                  <a:srgbClr val="002060"/>
                </a:solidFill>
                <a:latin typeface="Times New Roman" panose="02020603050405020304" pitchFamily="18" charset="0"/>
                <a:cs typeface="Times New Roman" panose="02020603050405020304" pitchFamily="18" charset="0"/>
              </a:rPr>
              <a:t>Development Environment</a:t>
            </a:r>
            <a:r>
              <a:rPr lang="en-US">
                <a:solidFill>
                  <a:srgbClr val="002060"/>
                </a:solidFill>
                <a:latin typeface="Times New Roman" panose="02020603050405020304" pitchFamily="18" charset="0"/>
                <a:cs typeface="Times New Roman" panose="02020603050405020304" pitchFamily="18" charset="0"/>
              </a:rPr>
              <a:t>,</a:t>
            </a:r>
            <a:r>
              <a:rPr>
                <a:solidFill>
                  <a:srgbClr val="002060"/>
                </a:solidFill>
                <a:latin typeface="Times New Roman" panose="02020603050405020304" pitchFamily="18" charset="0"/>
                <a:cs typeface="Times New Roman" panose="02020603050405020304" pitchFamily="18" charset="0"/>
              </a:rPr>
              <a:t> Google Colab</a:t>
            </a:r>
            <a:r>
              <a:rPr lang="en-US">
                <a:solidFill>
                  <a:srgbClr val="002060"/>
                </a:solidFill>
                <a:latin typeface="Times New Roman" panose="02020603050405020304" pitchFamily="18" charset="0"/>
                <a:cs typeface="Times New Roman" panose="02020603050405020304" pitchFamily="18" charset="0"/>
              </a:rPr>
              <a:t>, </a:t>
            </a:r>
            <a:r>
              <a:rPr>
                <a:solidFill>
                  <a:srgbClr val="002060"/>
                </a:solidFill>
                <a:latin typeface="Times New Roman" panose="02020603050405020304" pitchFamily="18" charset="0"/>
                <a:cs typeface="Times New Roman" panose="02020603050405020304" pitchFamily="18" charset="0"/>
              </a:rPr>
              <a:t>Jupyter Notebook </a:t>
            </a:r>
            <a:endParaRPr>
              <a:solidFill>
                <a:srgbClr val="002060"/>
              </a:solidFill>
              <a:latin typeface="Times New Roman" panose="02020603050405020304" pitchFamily="18" charset="0"/>
              <a:cs typeface="Times New Roman" panose="02020603050405020304" pitchFamily="18" charset="0"/>
            </a:endParaRPr>
          </a:p>
          <a:p>
            <a:pPr algn="just">
              <a:lnSpc>
                <a:spcPct val="150000"/>
              </a:lnSpc>
            </a:pPr>
            <a:r>
              <a:rPr b="1">
                <a:solidFill>
                  <a:srgbClr val="002060"/>
                </a:solidFill>
                <a:latin typeface="Times New Roman" panose="02020603050405020304" pitchFamily="18" charset="0"/>
                <a:cs typeface="Times New Roman" panose="02020603050405020304" pitchFamily="18" charset="0"/>
              </a:rPr>
              <a:t>Web Page Development</a:t>
            </a:r>
            <a:r>
              <a:rPr lang="en-US" b="1">
                <a:solidFill>
                  <a:srgbClr val="002060"/>
                </a:solidFill>
                <a:latin typeface="Times New Roman" panose="02020603050405020304" pitchFamily="18" charset="0"/>
                <a:cs typeface="Times New Roman" panose="02020603050405020304" pitchFamily="18" charset="0"/>
              </a:rPr>
              <a:t>: </a:t>
            </a:r>
            <a:r>
              <a:rPr>
                <a:solidFill>
                  <a:srgbClr val="002060"/>
                </a:solidFill>
                <a:latin typeface="Times New Roman" panose="02020603050405020304" pitchFamily="18" charset="0"/>
                <a:cs typeface="Times New Roman" panose="02020603050405020304" pitchFamily="18" charset="0"/>
              </a:rPr>
              <a:t> Streamlit / Flask (for disease prediction interface)</a:t>
            </a:r>
            <a:endParaRPr>
              <a:solidFill>
                <a:srgbClr val="002060"/>
              </a:solidFill>
              <a:latin typeface="Times New Roman" panose="02020603050405020304" pitchFamily="18" charset="0"/>
              <a:cs typeface="Times New Roman" panose="02020603050405020304" pitchFamily="18" charset="0"/>
            </a:endParaRPr>
          </a:p>
          <a:p>
            <a:pPr algn="just">
              <a:lnSpc>
                <a:spcPct val="150000"/>
              </a:lnSpc>
            </a:pPr>
            <a:r>
              <a:rPr lang="en-US">
                <a:solidFill>
                  <a:srgbClr val="002060"/>
                </a:solidFill>
                <a:latin typeface="Times New Roman" panose="02020603050405020304" pitchFamily="18" charset="0"/>
                <a:cs typeface="Times New Roman" panose="02020603050405020304" pitchFamily="18" charset="0"/>
              </a:rPr>
              <a:t> </a:t>
            </a:r>
            <a:r>
              <a:rPr b="1">
                <a:solidFill>
                  <a:srgbClr val="002060"/>
                </a:solidFill>
                <a:latin typeface="Times New Roman" panose="02020603050405020304" pitchFamily="18" charset="0"/>
                <a:cs typeface="Times New Roman" panose="02020603050405020304" pitchFamily="18" charset="0"/>
              </a:rPr>
              <a:t>Dataset Format</a:t>
            </a:r>
            <a:r>
              <a:rPr lang="en-US" b="1">
                <a:solidFill>
                  <a:srgbClr val="002060"/>
                </a:solidFill>
                <a:latin typeface="Times New Roman" panose="02020603050405020304" pitchFamily="18" charset="0"/>
                <a:cs typeface="Times New Roman" panose="02020603050405020304" pitchFamily="18" charset="0"/>
              </a:rPr>
              <a:t>: </a:t>
            </a:r>
            <a:r>
              <a:rPr>
                <a:solidFill>
                  <a:srgbClr val="002060"/>
                </a:solidFill>
                <a:latin typeface="Times New Roman" panose="02020603050405020304" pitchFamily="18" charset="0"/>
                <a:cs typeface="Times New Roman" panose="02020603050405020304" pitchFamily="18" charset="0"/>
              </a:rPr>
              <a:t>CSV (Clinical Data)</a:t>
            </a:r>
            <a:r>
              <a:rPr lang="en-US">
                <a:solidFill>
                  <a:srgbClr val="002060"/>
                </a:solidFill>
                <a:latin typeface="Times New Roman" panose="02020603050405020304" pitchFamily="18" charset="0"/>
                <a:cs typeface="Times New Roman" panose="02020603050405020304" pitchFamily="18" charset="0"/>
              </a:rPr>
              <a:t>, </a:t>
            </a:r>
            <a:r>
              <a:rPr>
                <a:solidFill>
                  <a:srgbClr val="002060"/>
                </a:solidFill>
                <a:latin typeface="Times New Roman" panose="02020603050405020304" pitchFamily="18" charset="0"/>
                <a:cs typeface="Times New Roman" panose="02020603050405020304" pitchFamily="18" charset="0"/>
              </a:rPr>
              <a:t>JPG / PNG (Skin Lesion Images)</a:t>
            </a:r>
            <a:endParaRPr>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12626" y="332656"/>
            <a:ext cx="5755678" cy="584775"/>
          </a:xfrm>
          <a:prstGeom prst="rect">
            <a:avLst/>
          </a:prstGeom>
          <a:noFill/>
        </p:spPr>
        <p:txBody>
          <a:bodyPr wrap="none" rtlCol="0">
            <a:spAutoFit/>
          </a:bodyPr>
          <a:lstStyle/>
          <a:p>
            <a:pPr algn="ctr"/>
            <a:r>
              <a:rPr lang="en-IN" sz="3200" b="1" dirty="0">
                <a:solidFill>
                  <a:srgbClr val="002060"/>
                </a:solidFill>
                <a:latin typeface="Times New Roman" panose="02020603050405020304" pitchFamily="18" charset="0"/>
                <a:cs typeface="Times New Roman" panose="02020603050405020304" pitchFamily="18" charset="0"/>
              </a:rPr>
              <a:t>DATASETS / INPUT DETAILS</a:t>
            </a:r>
            <a:endParaRPr lang="en-IN" sz="3200" dirty="0">
              <a:solidFill>
                <a:srgbClr val="00206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608965" y="1181100"/>
            <a:ext cx="11209655" cy="5490210"/>
          </a:xfrm>
          <a:prstGeom prst="rect">
            <a:avLst/>
          </a:prstGeom>
        </p:spPr>
        <p:txBody>
          <a:bodyPr wrap="square">
            <a:noAutofit/>
          </a:bodyPr>
          <a:p>
            <a:pPr indent="0" algn="just">
              <a:lnSpc>
                <a:spcPct val="150000"/>
              </a:lnSpc>
              <a:buNone/>
            </a:pPr>
            <a:r>
              <a:rPr sz="2000" b="1">
                <a:solidFill>
                  <a:srgbClr val="002060"/>
                </a:solidFill>
                <a:latin typeface="Times New Roman" panose="02020603050405020304" pitchFamily="18" charset="0"/>
                <a:cs typeface="Times New Roman" panose="02020603050405020304" pitchFamily="18" charset="0"/>
              </a:rPr>
              <a:t>Clinical Dataset</a:t>
            </a:r>
            <a:r>
              <a:rPr lang="en-US" sz="2000" b="1">
                <a:solidFill>
                  <a:srgbClr val="002060"/>
                </a:solidFill>
                <a:latin typeface="Times New Roman" panose="02020603050405020304" pitchFamily="18" charset="0"/>
                <a:cs typeface="Times New Roman" panose="02020603050405020304" pitchFamily="18" charset="0"/>
              </a:rPr>
              <a:t>:</a:t>
            </a:r>
            <a:endParaRPr sz="2000" b="1">
              <a:solidFill>
                <a:srgbClr val="002060"/>
              </a:solidFill>
              <a:latin typeface="Times New Roman" panose="02020603050405020304" pitchFamily="18" charset="0"/>
              <a:cs typeface="Times New Roman" panose="02020603050405020304" pitchFamily="18" charset="0"/>
            </a:endParaRPr>
          </a:p>
          <a:p>
            <a:pPr indent="0" algn="just">
              <a:lnSpc>
                <a:spcPct val="150000"/>
              </a:lnSpc>
              <a:buNone/>
            </a:pPr>
            <a:r>
              <a:rPr b="1">
                <a:solidFill>
                  <a:srgbClr val="002060"/>
                </a:solidFill>
                <a:latin typeface="Times New Roman" panose="02020603050405020304" pitchFamily="18" charset="0"/>
                <a:cs typeface="Times New Roman" panose="02020603050405020304" pitchFamily="18" charset="0"/>
              </a:rPr>
              <a:t>Dataset Name:</a:t>
            </a:r>
            <a:r>
              <a:rPr>
                <a:solidFill>
                  <a:srgbClr val="002060"/>
                </a:solidFill>
                <a:latin typeface="Times New Roman" panose="02020603050405020304" pitchFamily="18" charset="0"/>
                <a:cs typeface="Times New Roman" panose="02020603050405020304" pitchFamily="18" charset="0"/>
              </a:rPr>
              <a:t> Scrub Typhus Clinical Symptom Dataset </a:t>
            </a:r>
            <a:endParaRPr>
              <a:solidFill>
                <a:srgbClr val="002060"/>
              </a:solidFill>
              <a:latin typeface="Times New Roman" panose="02020603050405020304" pitchFamily="18" charset="0"/>
              <a:cs typeface="Times New Roman" panose="02020603050405020304" pitchFamily="18" charset="0"/>
            </a:endParaRPr>
          </a:p>
          <a:p>
            <a:pPr indent="0" algn="just">
              <a:lnSpc>
                <a:spcPct val="150000"/>
              </a:lnSpc>
              <a:buNone/>
            </a:pPr>
            <a:r>
              <a:rPr b="1">
                <a:solidFill>
                  <a:srgbClr val="002060"/>
                </a:solidFill>
                <a:latin typeface="Times New Roman" panose="02020603050405020304" pitchFamily="18" charset="0"/>
                <a:cs typeface="Times New Roman" panose="02020603050405020304" pitchFamily="18" charset="0"/>
              </a:rPr>
              <a:t>Source:</a:t>
            </a:r>
            <a:r>
              <a:rPr>
                <a:solidFill>
                  <a:srgbClr val="002060"/>
                </a:solidFill>
                <a:latin typeface="Times New Roman" panose="02020603050405020304" pitchFamily="18" charset="0"/>
                <a:cs typeface="Times New Roman" panose="02020603050405020304" pitchFamily="18" charset="0"/>
              </a:rPr>
              <a:t> Medical research datasets / simulated clinical dataset for machine learning experiments </a:t>
            </a:r>
            <a:endParaRPr>
              <a:solidFill>
                <a:srgbClr val="002060"/>
              </a:solidFill>
              <a:latin typeface="Times New Roman" panose="02020603050405020304" pitchFamily="18" charset="0"/>
              <a:cs typeface="Times New Roman" panose="02020603050405020304" pitchFamily="18" charset="0"/>
            </a:endParaRPr>
          </a:p>
          <a:p>
            <a:pPr indent="0" algn="just">
              <a:lnSpc>
                <a:spcPct val="150000"/>
              </a:lnSpc>
              <a:buNone/>
            </a:pPr>
            <a:r>
              <a:rPr b="1">
                <a:solidFill>
                  <a:srgbClr val="002060"/>
                </a:solidFill>
                <a:latin typeface="Times New Roman" panose="02020603050405020304" pitchFamily="18" charset="0"/>
                <a:cs typeface="Times New Roman" panose="02020603050405020304" pitchFamily="18" charset="0"/>
              </a:rPr>
              <a:t>Format:</a:t>
            </a:r>
            <a:r>
              <a:rPr>
                <a:solidFill>
                  <a:srgbClr val="002060"/>
                </a:solidFill>
                <a:latin typeface="Times New Roman" panose="02020603050405020304" pitchFamily="18" charset="0"/>
                <a:cs typeface="Times New Roman" panose="02020603050405020304" pitchFamily="18" charset="0"/>
              </a:rPr>
              <a:t> CSV file </a:t>
            </a:r>
            <a:endParaRPr>
              <a:solidFill>
                <a:srgbClr val="002060"/>
              </a:solidFill>
              <a:latin typeface="Times New Roman" panose="02020603050405020304" pitchFamily="18" charset="0"/>
              <a:cs typeface="Times New Roman" panose="02020603050405020304" pitchFamily="18" charset="0"/>
            </a:endParaRPr>
          </a:p>
          <a:p>
            <a:pPr indent="0" algn="just">
              <a:lnSpc>
                <a:spcPct val="150000"/>
              </a:lnSpc>
              <a:buNone/>
            </a:pPr>
            <a:r>
              <a:rPr b="1">
                <a:solidFill>
                  <a:srgbClr val="002060"/>
                </a:solidFill>
                <a:latin typeface="Times New Roman" panose="02020603050405020304" pitchFamily="18" charset="0"/>
                <a:cs typeface="Times New Roman" panose="02020603050405020304" pitchFamily="18" charset="0"/>
              </a:rPr>
              <a:t>Features:</a:t>
            </a:r>
            <a:r>
              <a:rPr>
                <a:solidFill>
                  <a:srgbClr val="002060"/>
                </a:solidFill>
                <a:latin typeface="Times New Roman" panose="02020603050405020304" pitchFamily="18" charset="0"/>
                <a:cs typeface="Times New Roman" panose="02020603050405020304" pitchFamily="18" charset="0"/>
              </a:rPr>
              <a:t> Fever, Headache, Myalgia, Eschar, Chills, Sweating, Vomiting, Rash, Lymph Gland Swelling </a:t>
            </a:r>
            <a:endParaRPr>
              <a:solidFill>
                <a:srgbClr val="002060"/>
              </a:solidFill>
              <a:latin typeface="Times New Roman" panose="02020603050405020304" pitchFamily="18" charset="0"/>
              <a:cs typeface="Times New Roman" panose="02020603050405020304" pitchFamily="18" charset="0"/>
            </a:endParaRPr>
          </a:p>
          <a:p>
            <a:pPr indent="0" algn="just">
              <a:lnSpc>
                <a:spcPct val="150000"/>
              </a:lnSpc>
              <a:buNone/>
            </a:pPr>
            <a:r>
              <a:rPr b="1">
                <a:solidFill>
                  <a:srgbClr val="002060"/>
                </a:solidFill>
                <a:latin typeface="Times New Roman" panose="02020603050405020304" pitchFamily="18" charset="0"/>
                <a:cs typeface="Times New Roman" panose="02020603050405020304" pitchFamily="18" charset="0"/>
              </a:rPr>
              <a:t>Purpose:</a:t>
            </a:r>
            <a:r>
              <a:rPr>
                <a:solidFill>
                  <a:srgbClr val="002060"/>
                </a:solidFill>
                <a:latin typeface="Times New Roman" panose="02020603050405020304" pitchFamily="18" charset="0"/>
                <a:cs typeface="Times New Roman" panose="02020603050405020304" pitchFamily="18" charset="0"/>
              </a:rPr>
              <a:t> Used to train machine learning models such as Random Forest and Support Vector Classifier (SVC) for disease prediction. </a:t>
            </a:r>
            <a:endParaRPr>
              <a:solidFill>
                <a:srgbClr val="002060"/>
              </a:solidFill>
              <a:latin typeface="Times New Roman" panose="02020603050405020304" pitchFamily="18" charset="0"/>
              <a:cs typeface="Times New Roman" panose="02020603050405020304" pitchFamily="18" charset="0"/>
            </a:endParaRPr>
          </a:p>
          <a:p>
            <a:pPr indent="0" algn="just">
              <a:lnSpc>
                <a:spcPct val="150000"/>
              </a:lnSpc>
              <a:buNone/>
            </a:pPr>
            <a:r>
              <a:rPr sz="2000" b="1">
                <a:solidFill>
                  <a:srgbClr val="002060"/>
                </a:solidFill>
                <a:latin typeface="Times New Roman" panose="02020603050405020304" pitchFamily="18" charset="0"/>
                <a:cs typeface="Times New Roman" panose="02020603050405020304" pitchFamily="18" charset="0"/>
              </a:rPr>
              <a:t>Image Dataset</a:t>
            </a:r>
            <a:r>
              <a:rPr lang="en-US" sz="2000" b="1">
                <a:solidFill>
                  <a:srgbClr val="002060"/>
                </a:solidFill>
                <a:latin typeface="Times New Roman" panose="02020603050405020304" pitchFamily="18" charset="0"/>
                <a:cs typeface="Times New Roman" panose="02020603050405020304" pitchFamily="18" charset="0"/>
              </a:rPr>
              <a:t>:</a:t>
            </a:r>
            <a:endParaRPr sz="2000" b="1">
              <a:solidFill>
                <a:srgbClr val="002060"/>
              </a:solidFill>
              <a:latin typeface="Times New Roman" panose="02020603050405020304" pitchFamily="18" charset="0"/>
              <a:cs typeface="Times New Roman" panose="02020603050405020304" pitchFamily="18" charset="0"/>
            </a:endParaRPr>
          </a:p>
          <a:p>
            <a:pPr indent="0" algn="just">
              <a:lnSpc>
                <a:spcPct val="150000"/>
              </a:lnSpc>
              <a:buNone/>
            </a:pPr>
            <a:r>
              <a:rPr b="1">
                <a:solidFill>
                  <a:srgbClr val="002060"/>
                </a:solidFill>
                <a:latin typeface="Times New Roman" panose="02020603050405020304" pitchFamily="18" charset="0"/>
                <a:cs typeface="Times New Roman" panose="02020603050405020304" pitchFamily="18" charset="0"/>
              </a:rPr>
              <a:t>Dataset Name:</a:t>
            </a:r>
            <a:r>
              <a:rPr>
                <a:solidFill>
                  <a:srgbClr val="002060"/>
                </a:solidFill>
                <a:latin typeface="Times New Roman" panose="02020603050405020304" pitchFamily="18" charset="0"/>
                <a:cs typeface="Times New Roman" panose="02020603050405020304" pitchFamily="18" charset="0"/>
              </a:rPr>
              <a:t> Scrub Typhus Skin Lesion (Eschar) Image Dataset </a:t>
            </a:r>
            <a:endParaRPr>
              <a:solidFill>
                <a:srgbClr val="002060"/>
              </a:solidFill>
              <a:latin typeface="Times New Roman" panose="02020603050405020304" pitchFamily="18" charset="0"/>
              <a:cs typeface="Times New Roman" panose="02020603050405020304" pitchFamily="18" charset="0"/>
            </a:endParaRPr>
          </a:p>
          <a:p>
            <a:pPr indent="0" algn="just">
              <a:lnSpc>
                <a:spcPct val="150000"/>
              </a:lnSpc>
              <a:buNone/>
            </a:pPr>
            <a:r>
              <a:rPr b="1">
                <a:solidFill>
                  <a:srgbClr val="002060"/>
                </a:solidFill>
                <a:latin typeface="Times New Roman" panose="02020603050405020304" pitchFamily="18" charset="0"/>
                <a:cs typeface="Times New Roman" panose="02020603050405020304" pitchFamily="18" charset="0"/>
              </a:rPr>
              <a:t>Source</a:t>
            </a:r>
            <a:r>
              <a:rPr>
                <a:solidFill>
                  <a:srgbClr val="002060"/>
                </a:solidFill>
                <a:latin typeface="Times New Roman" panose="02020603050405020304" pitchFamily="18" charset="0"/>
                <a:cs typeface="Times New Roman" panose="02020603050405020304" pitchFamily="18" charset="0"/>
              </a:rPr>
              <a:t>: Public medical image sources such as Kaggle and open medical image repositories </a:t>
            </a:r>
            <a:endParaRPr>
              <a:solidFill>
                <a:srgbClr val="002060"/>
              </a:solidFill>
              <a:latin typeface="Times New Roman" panose="02020603050405020304" pitchFamily="18" charset="0"/>
              <a:cs typeface="Times New Roman" panose="02020603050405020304" pitchFamily="18" charset="0"/>
            </a:endParaRPr>
          </a:p>
          <a:p>
            <a:pPr indent="0" algn="just">
              <a:lnSpc>
                <a:spcPct val="150000"/>
              </a:lnSpc>
              <a:buNone/>
            </a:pPr>
            <a:r>
              <a:rPr b="1">
                <a:solidFill>
                  <a:srgbClr val="002060"/>
                </a:solidFill>
                <a:latin typeface="Times New Roman" panose="02020603050405020304" pitchFamily="18" charset="0"/>
                <a:cs typeface="Times New Roman" panose="02020603050405020304" pitchFamily="18" charset="0"/>
              </a:rPr>
              <a:t>Format:</a:t>
            </a:r>
            <a:r>
              <a:rPr>
                <a:solidFill>
                  <a:srgbClr val="002060"/>
                </a:solidFill>
                <a:latin typeface="Times New Roman" panose="02020603050405020304" pitchFamily="18" charset="0"/>
                <a:cs typeface="Times New Roman" panose="02020603050405020304" pitchFamily="18" charset="0"/>
              </a:rPr>
              <a:t> JPG / PNG images </a:t>
            </a:r>
            <a:endParaRPr>
              <a:solidFill>
                <a:srgbClr val="002060"/>
              </a:solidFill>
              <a:latin typeface="Times New Roman" panose="02020603050405020304" pitchFamily="18" charset="0"/>
              <a:cs typeface="Times New Roman" panose="02020603050405020304" pitchFamily="18" charset="0"/>
            </a:endParaRPr>
          </a:p>
          <a:p>
            <a:pPr indent="0" algn="just">
              <a:lnSpc>
                <a:spcPct val="150000"/>
              </a:lnSpc>
              <a:buNone/>
            </a:pPr>
            <a:r>
              <a:rPr b="1">
                <a:solidFill>
                  <a:srgbClr val="002060"/>
                </a:solidFill>
                <a:latin typeface="Times New Roman" panose="02020603050405020304" pitchFamily="18" charset="0"/>
                <a:cs typeface="Times New Roman" panose="02020603050405020304" pitchFamily="18" charset="0"/>
              </a:rPr>
              <a:t>Purpose:</a:t>
            </a:r>
            <a:r>
              <a:rPr>
                <a:solidFill>
                  <a:srgbClr val="002060"/>
                </a:solidFill>
                <a:latin typeface="Times New Roman" panose="02020603050405020304" pitchFamily="18" charset="0"/>
                <a:cs typeface="Times New Roman" panose="02020603050405020304" pitchFamily="18" charset="0"/>
              </a:rPr>
              <a:t> Used to train the CNN model for identifying skin lesion patterns related to scrub typhus. </a:t>
            </a:r>
            <a:endParaRPr>
              <a:solidFill>
                <a:srgbClr val="002060"/>
              </a:solidFill>
              <a:latin typeface="Times New Roman" panose="02020603050405020304" pitchFamily="18" charset="0"/>
              <a:cs typeface="Times New Roman" panose="02020603050405020304" pitchFamily="18" charset="0"/>
            </a:endParaRPr>
          </a:p>
          <a:p>
            <a:pPr indent="0" algn="just">
              <a:lnSpc>
                <a:spcPct val="150000"/>
              </a:lnSpc>
              <a:buNone/>
            </a:pPr>
            <a:r>
              <a:rPr sz="2000" b="1">
                <a:solidFill>
                  <a:srgbClr val="002060"/>
                </a:solidFill>
                <a:latin typeface="Times New Roman" panose="02020603050405020304" pitchFamily="18" charset="0"/>
                <a:cs typeface="Times New Roman" panose="02020603050405020304" pitchFamily="18" charset="0"/>
              </a:rPr>
              <a:t>Input to the System</a:t>
            </a:r>
            <a:r>
              <a:rPr lang="en-US" sz="2000" b="1">
                <a:solidFill>
                  <a:srgbClr val="002060"/>
                </a:solidFill>
                <a:latin typeface="Times New Roman" panose="02020603050405020304" pitchFamily="18" charset="0"/>
                <a:cs typeface="Times New Roman" panose="02020603050405020304" pitchFamily="18" charset="0"/>
              </a:rPr>
              <a:t>:</a:t>
            </a:r>
            <a:r>
              <a:rPr lang="en-US" b="1">
                <a:solidFill>
                  <a:srgbClr val="002060"/>
                </a:solidFill>
                <a:latin typeface="Times New Roman" panose="02020603050405020304" pitchFamily="18" charset="0"/>
                <a:cs typeface="Times New Roman" panose="02020603050405020304" pitchFamily="18" charset="0"/>
              </a:rPr>
              <a:t> </a:t>
            </a:r>
            <a:r>
              <a:rPr>
                <a:solidFill>
                  <a:srgbClr val="002060"/>
                </a:solidFill>
                <a:latin typeface="Times New Roman" panose="02020603050405020304" pitchFamily="18" charset="0"/>
                <a:cs typeface="Times New Roman" panose="02020603050405020304" pitchFamily="18" charset="0"/>
              </a:rPr>
              <a:t>Clinical symptom data (structured dataset)</a:t>
            </a:r>
            <a:r>
              <a:rPr lang="en-US">
                <a:solidFill>
                  <a:srgbClr val="002060"/>
                </a:solidFill>
                <a:latin typeface="Times New Roman" panose="02020603050405020304" pitchFamily="18" charset="0"/>
                <a:cs typeface="Times New Roman" panose="02020603050405020304" pitchFamily="18" charset="0"/>
              </a:rPr>
              <a:t>, </a:t>
            </a:r>
            <a:r>
              <a:rPr>
                <a:solidFill>
                  <a:srgbClr val="002060"/>
                </a:solidFill>
                <a:latin typeface="Times New Roman" panose="02020603050405020304" pitchFamily="18" charset="0"/>
                <a:cs typeface="Times New Roman" panose="02020603050405020304" pitchFamily="18" charset="0"/>
              </a:rPr>
              <a:t>Skin lesion images (medical image dataset) </a:t>
            </a:r>
            <a:endParaRPr>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51682" y="332656"/>
            <a:ext cx="2975495" cy="584775"/>
          </a:xfrm>
          <a:prstGeom prst="rect">
            <a:avLst/>
          </a:prstGeom>
          <a:noFill/>
        </p:spPr>
        <p:txBody>
          <a:bodyPr wrap="none" rtlCol="0">
            <a:spAutoFit/>
          </a:bodyPr>
          <a:lstStyle/>
          <a:p>
            <a:pPr algn="ctr"/>
            <a:r>
              <a:rPr lang="en-IN" sz="3200" b="1" dirty="0">
                <a:solidFill>
                  <a:srgbClr val="002060"/>
                </a:solidFill>
                <a:latin typeface="Times New Roman" panose="02020603050405020304" pitchFamily="18" charset="0"/>
                <a:cs typeface="Times New Roman" panose="02020603050405020304" pitchFamily="18" charset="0"/>
              </a:rPr>
              <a:t>ADVANTAGES</a:t>
            </a:r>
            <a:endParaRPr lang="en-IN" sz="3200" dirty="0">
              <a:solidFill>
                <a:srgbClr val="00206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783840" y="2132965"/>
            <a:ext cx="7314565" cy="2734310"/>
          </a:xfrm>
          <a:prstGeom prst="rect">
            <a:avLst/>
          </a:prstGeom>
        </p:spPr>
        <p:txBody>
          <a:bodyPr wrap="square">
            <a:noAutofit/>
          </a:bodyPr>
          <a:p>
            <a:pPr marL="285750" indent="-285750" algn="just">
              <a:lnSpc>
                <a:spcPct val="150000"/>
              </a:lnSpc>
              <a:buFont typeface="Arial" panose="020B0604020202020204" pitchFamily="34" charset="0"/>
              <a:buChar char="•"/>
            </a:pPr>
            <a:r>
              <a:rPr>
                <a:solidFill>
                  <a:srgbClr val="002060"/>
                </a:solidFill>
                <a:latin typeface="Times New Roman" panose="02020603050405020304" pitchFamily="18" charset="0"/>
                <a:cs typeface="Times New Roman" panose="02020603050405020304" pitchFamily="18" charset="0"/>
              </a:rPr>
              <a:t>Combines clinical data and skin image analysis for better disease detection. </a:t>
            </a:r>
            <a:endParaRPr>
              <a:solidFill>
                <a:srgbClr val="002060"/>
              </a:solidFill>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a:solidFill>
                  <a:srgbClr val="002060"/>
                </a:solidFill>
                <a:latin typeface="Times New Roman" panose="02020603050405020304" pitchFamily="18" charset="0"/>
                <a:cs typeface="Times New Roman" panose="02020603050405020304" pitchFamily="18" charset="0"/>
              </a:rPr>
              <a:t> Improves accuracy and reliability of scrub typhus classification. </a:t>
            </a:r>
            <a:endParaRPr>
              <a:solidFill>
                <a:srgbClr val="002060"/>
              </a:solidFill>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a:solidFill>
                  <a:srgbClr val="002060"/>
                </a:solidFill>
                <a:latin typeface="Times New Roman" panose="02020603050405020304" pitchFamily="18" charset="0"/>
                <a:cs typeface="Times New Roman" panose="02020603050405020304" pitchFamily="18" charset="0"/>
              </a:rPr>
              <a:t> Provides automated support for early diagnosis. </a:t>
            </a:r>
            <a:endParaRPr>
              <a:solidFill>
                <a:srgbClr val="002060"/>
              </a:solidFill>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a:solidFill>
                  <a:srgbClr val="002060"/>
                </a:solidFill>
                <a:latin typeface="Times New Roman" panose="02020603050405020304" pitchFamily="18" charset="0"/>
                <a:cs typeface="Times New Roman" panose="02020603050405020304" pitchFamily="18" charset="0"/>
              </a:rPr>
              <a:t> Uses explainable AI techniques to understand model predictions. </a:t>
            </a:r>
            <a:endParaRPr>
              <a:solidFill>
                <a:srgbClr val="002060"/>
              </a:solidFill>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a:solidFill>
                  <a:srgbClr val="002060"/>
                </a:solidFill>
                <a:latin typeface="Times New Roman" panose="02020603050405020304" pitchFamily="18" charset="0"/>
                <a:cs typeface="Times New Roman" panose="02020603050405020304" pitchFamily="18" charset="0"/>
              </a:rPr>
              <a:t> Helps healthcare professionals in faster decision making. </a:t>
            </a:r>
            <a:endParaRPr>
              <a:solidFill>
                <a:srgbClr val="002060"/>
              </a:solidFill>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a:solidFill>
                  <a:srgbClr val="002060"/>
                </a:solidFill>
                <a:latin typeface="Times New Roman" panose="02020603050405020304" pitchFamily="18" charset="0"/>
                <a:cs typeface="Times New Roman" panose="02020603050405020304" pitchFamily="18" charset="0"/>
              </a:rPr>
              <a:t> Reduces dependency on time-consuming laboratory tests.</a:t>
            </a:r>
            <a:endParaRPr>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62103" y="332656"/>
            <a:ext cx="2954656" cy="584775"/>
          </a:xfrm>
          <a:prstGeom prst="rect">
            <a:avLst/>
          </a:prstGeom>
          <a:noFill/>
        </p:spPr>
        <p:txBody>
          <a:bodyPr wrap="none" rtlCol="0">
            <a:spAutoFit/>
          </a:bodyPr>
          <a:lstStyle/>
          <a:p>
            <a:pPr algn="ctr"/>
            <a:r>
              <a:rPr lang="en-IN" sz="3200" b="1" dirty="0">
                <a:solidFill>
                  <a:srgbClr val="002060"/>
                </a:solidFill>
                <a:latin typeface="Times New Roman" panose="02020603050405020304" pitchFamily="18" charset="0"/>
                <a:cs typeface="Times New Roman" panose="02020603050405020304" pitchFamily="18" charset="0"/>
              </a:rPr>
              <a:t>LIMITATIONS</a:t>
            </a:r>
            <a:endParaRPr lang="en-IN" sz="3200" dirty="0">
              <a:solidFill>
                <a:srgbClr val="00206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67305" y="1772920"/>
            <a:ext cx="8258810" cy="2584450"/>
          </a:xfrm>
          <a:prstGeom prst="rect">
            <a:avLst/>
          </a:prstGeom>
        </p:spPr>
        <p:txBody>
          <a:bodyPr wrap="square">
            <a:spAutoFit/>
          </a:bodyPr>
          <a:p>
            <a:pPr marL="285750" indent="-285750" algn="just">
              <a:lnSpc>
                <a:spcPct val="150000"/>
              </a:lnSpc>
              <a:buFont typeface="Arial" panose="020B0604020202020204" pitchFamily="34" charset="0"/>
              <a:buChar char="•"/>
            </a:pPr>
            <a:r>
              <a:rPr>
                <a:solidFill>
                  <a:srgbClr val="002060"/>
                </a:solidFill>
                <a:latin typeface="Times New Roman" panose="02020603050405020304" pitchFamily="18" charset="0"/>
                <a:cs typeface="Times New Roman" panose="02020603050405020304" pitchFamily="18" charset="0"/>
              </a:rPr>
              <a:t>The model performance depends on the size and quality of the dataset. </a:t>
            </a:r>
            <a:endParaRPr>
              <a:solidFill>
                <a:srgbClr val="002060"/>
              </a:solidFill>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a:solidFill>
                  <a:srgbClr val="002060"/>
                </a:solidFill>
                <a:latin typeface="Times New Roman" panose="02020603050405020304" pitchFamily="18" charset="0"/>
                <a:cs typeface="Times New Roman" panose="02020603050405020304" pitchFamily="18" charset="0"/>
              </a:rPr>
              <a:t> Limited availability of scrub typhus skin lesion images. </a:t>
            </a:r>
            <a:endParaRPr>
              <a:solidFill>
                <a:srgbClr val="002060"/>
              </a:solidFill>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a:solidFill>
                  <a:srgbClr val="002060"/>
                </a:solidFill>
                <a:latin typeface="Times New Roman" panose="02020603050405020304" pitchFamily="18" charset="0"/>
                <a:cs typeface="Times New Roman" panose="02020603050405020304" pitchFamily="18" charset="0"/>
              </a:rPr>
              <a:t> Image quality variations may affect prediction accuracy. </a:t>
            </a:r>
            <a:endParaRPr>
              <a:solidFill>
                <a:srgbClr val="002060"/>
              </a:solidFill>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a:solidFill>
                  <a:srgbClr val="002060"/>
                </a:solidFill>
                <a:latin typeface="Times New Roman" panose="02020603050405020304" pitchFamily="18" charset="0"/>
                <a:cs typeface="Times New Roman" panose="02020603050405020304" pitchFamily="18" charset="0"/>
              </a:rPr>
              <a:t> The system may require high computational resources for deep learning models. </a:t>
            </a:r>
            <a:endParaRPr>
              <a:solidFill>
                <a:srgbClr val="002060"/>
              </a:solidFill>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a:solidFill>
                  <a:srgbClr val="002060"/>
                </a:solidFill>
                <a:latin typeface="Times New Roman" panose="02020603050405020304" pitchFamily="18" charset="0"/>
                <a:cs typeface="Times New Roman" panose="02020603050405020304" pitchFamily="18" charset="0"/>
              </a:rPr>
              <a:t> Clinical symptoms may overlap with other diseases, which can affect prediction accuracy.</a:t>
            </a:r>
            <a:endParaRPr>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568135" y="332656"/>
            <a:ext cx="3342582" cy="584775"/>
          </a:xfrm>
          <a:prstGeom prst="rect">
            <a:avLst/>
          </a:prstGeom>
          <a:noFill/>
        </p:spPr>
        <p:txBody>
          <a:bodyPr wrap="none" rtlCol="0">
            <a:spAutoFit/>
          </a:bodyPr>
          <a:lstStyle/>
          <a:p>
            <a:pPr algn="ctr"/>
            <a:r>
              <a:rPr lang="en-IN" sz="3200" b="1" dirty="0">
                <a:solidFill>
                  <a:srgbClr val="002060"/>
                </a:solidFill>
                <a:latin typeface="Times New Roman" panose="02020603050405020304" pitchFamily="18" charset="0"/>
                <a:cs typeface="Times New Roman" panose="02020603050405020304" pitchFamily="18" charset="0"/>
              </a:rPr>
              <a:t>FUTURE SCOPE</a:t>
            </a:r>
            <a:endParaRPr lang="en-IN" sz="3200" dirty="0">
              <a:solidFill>
                <a:srgbClr val="00206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495550" y="1772920"/>
            <a:ext cx="8335010" cy="2913380"/>
          </a:xfrm>
          <a:prstGeom prst="rect">
            <a:avLst/>
          </a:prstGeom>
        </p:spPr>
        <p:txBody>
          <a:bodyPr wrap="square">
            <a:noAutofit/>
          </a:bodyPr>
          <a:p>
            <a:pPr algn="just">
              <a:lnSpc>
                <a:spcPct val="150000"/>
              </a:lnSpc>
            </a:pPr>
            <a:r>
              <a:rPr>
                <a:solidFill>
                  <a:srgbClr val="002060"/>
                </a:solidFill>
                <a:latin typeface="Times New Roman" panose="02020603050405020304" pitchFamily="18" charset="0"/>
                <a:cs typeface="Times New Roman" panose="02020603050405020304" pitchFamily="18" charset="0"/>
              </a:rPr>
              <a:t>In the future, the system can be improved by using larger datasets to increase model accuracy. Advanced deep learning models such as EfficientNet or Vision Transformers can be used for better image analysis. The system can also be extended to detect multiple infectious diseases instead of only scrub typhus. In addition, it can be developed as a mobile or web application and integrated with medical data such as laboratory reports and patient history for better diagnosis.</a:t>
            </a:r>
            <a:endParaRPr>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55687" y="332656"/>
            <a:ext cx="2967479" cy="584775"/>
          </a:xfrm>
          <a:prstGeom prst="rect">
            <a:avLst/>
          </a:prstGeom>
          <a:noFill/>
        </p:spPr>
        <p:txBody>
          <a:bodyPr wrap="none" rtlCol="0">
            <a:spAutoFit/>
          </a:bodyPr>
          <a:lstStyle/>
          <a:p>
            <a:pPr algn="ctr"/>
            <a:r>
              <a:rPr lang="en-IN" sz="3200" b="1" dirty="0">
                <a:solidFill>
                  <a:srgbClr val="002060"/>
                </a:solidFill>
                <a:latin typeface="Times New Roman" panose="02020603050405020304" pitchFamily="18" charset="0"/>
                <a:cs typeface="Times New Roman" panose="02020603050405020304" pitchFamily="18" charset="0"/>
              </a:rPr>
              <a:t>CONCLUSION</a:t>
            </a:r>
            <a:endParaRPr lang="en-IN" sz="3200" dirty="0">
              <a:solidFill>
                <a:srgbClr val="00206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279650" y="1701165"/>
            <a:ext cx="8420735" cy="3415030"/>
          </a:xfrm>
          <a:prstGeom prst="rect">
            <a:avLst/>
          </a:prstGeom>
        </p:spPr>
        <p:txBody>
          <a:bodyPr wrap="square">
            <a:spAutoFit/>
          </a:bodyPr>
          <a:p>
            <a:pPr algn="just">
              <a:lnSpc>
                <a:spcPct val="150000"/>
              </a:lnSpc>
            </a:pPr>
            <a:r>
              <a:rPr>
                <a:solidFill>
                  <a:srgbClr val="002060"/>
                </a:solidFill>
                <a:latin typeface="Times New Roman" panose="02020603050405020304" pitchFamily="18" charset="0"/>
                <a:cs typeface="Times New Roman" panose="02020603050405020304" pitchFamily="18" charset="0"/>
              </a:rPr>
              <a:t>This project presents a multimodal machine learning approach for scrub typhus detection using clinical symptom data and skin lesion images. Machine learning algorithms analyze the clinical features, while a deep learning model processes the skin images to identify disease patterns. The predictions from both models are combined to improve the accuracy and reliability of disease detection. Explainable AI techniques such as SHAP and Grad-CAM++ are used to understand the model predictions. The proposed system can assist healthcare professionals in early diagnosis and better decision making for scrub typhus detection.</a:t>
            </a:r>
            <a:endParaRPr>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95161" y="332656"/>
            <a:ext cx="2945038" cy="584775"/>
          </a:xfrm>
          <a:prstGeom prst="rect">
            <a:avLst/>
          </a:prstGeom>
          <a:noFill/>
        </p:spPr>
        <p:txBody>
          <a:bodyPr wrap="none" rtlCol="0">
            <a:spAutoFit/>
          </a:bodyPr>
          <a:lstStyle/>
          <a:p>
            <a:pPr algn="ctr"/>
            <a:r>
              <a:rPr lang="en-US" sz="3200" b="1" dirty="0">
                <a:solidFill>
                  <a:srgbClr val="002060"/>
                </a:solidFill>
                <a:latin typeface="Times New Roman" panose="02020603050405020304" pitchFamily="18" charset="0"/>
                <a:cs typeface="Times New Roman" panose="02020603050405020304" pitchFamily="18" charset="0"/>
              </a:rPr>
              <a:t>REFERENCES</a:t>
            </a:r>
            <a:endParaRPr lang="en-IN" sz="3200" b="1" dirty="0">
              <a:solidFill>
                <a:srgbClr val="00206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1000125" y="1536700"/>
            <a:ext cx="9992995" cy="4815205"/>
          </a:xfrm>
          <a:prstGeom prst="rect">
            <a:avLst/>
          </a:prstGeom>
        </p:spPr>
        <p:txBody>
          <a:bodyPr wrap="square">
            <a:noAutofit/>
          </a:bodyPr>
          <a:p>
            <a:pPr algn="just">
              <a:lnSpc>
                <a:spcPct val="150000"/>
              </a:lnSpc>
            </a:pPr>
            <a:r>
              <a:rPr>
                <a:solidFill>
                  <a:srgbClr val="002060"/>
                </a:solidFill>
                <a:latin typeface="Times New Roman" panose="02020603050405020304" pitchFamily="18" charset="0"/>
                <a:cs typeface="Times New Roman" panose="02020603050405020304" pitchFamily="18" charset="0"/>
              </a:rPr>
              <a:t>[1] Kala, D., &amp; Sharma, R. (2020) – Reviewed different diagnostic methods for scrub typhus such as ELISA, PCR, and serological techniques.</a:t>
            </a:r>
            <a:endParaRPr>
              <a:solidFill>
                <a:srgbClr val="002060"/>
              </a:solidFill>
              <a:latin typeface="Times New Roman" panose="02020603050405020304" pitchFamily="18" charset="0"/>
              <a:cs typeface="Times New Roman" panose="02020603050405020304" pitchFamily="18" charset="0"/>
            </a:endParaRPr>
          </a:p>
          <a:p>
            <a:pPr algn="just">
              <a:lnSpc>
                <a:spcPct val="150000"/>
              </a:lnSpc>
            </a:pPr>
            <a:r>
              <a:rPr>
                <a:solidFill>
                  <a:srgbClr val="002060"/>
                </a:solidFill>
                <a:latin typeface="Times New Roman" panose="02020603050405020304" pitchFamily="18" charset="0"/>
                <a:cs typeface="Times New Roman" panose="02020603050405020304" pitchFamily="18" charset="0"/>
              </a:rPr>
              <a:t>[2] Liao, C. C., et al. (2021) – Proposed an ELISA-based diagnostic platform for accurate scrub typhus detection.</a:t>
            </a:r>
            <a:endParaRPr>
              <a:solidFill>
                <a:srgbClr val="002060"/>
              </a:solidFill>
              <a:latin typeface="Times New Roman" panose="02020603050405020304" pitchFamily="18" charset="0"/>
              <a:cs typeface="Times New Roman" panose="02020603050405020304" pitchFamily="18" charset="0"/>
            </a:endParaRPr>
          </a:p>
          <a:p>
            <a:pPr algn="just">
              <a:lnSpc>
                <a:spcPct val="150000"/>
              </a:lnSpc>
            </a:pPr>
            <a:r>
              <a:rPr>
                <a:solidFill>
                  <a:srgbClr val="002060"/>
                </a:solidFill>
                <a:latin typeface="Times New Roman" panose="02020603050405020304" pitchFamily="18" charset="0"/>
                <a:cs typeface="Times New Roman" panose="02020603050405020304" pitchFamily="18" charset="0"/>
              </a:rPr>
              <a:t>[3] Kim, M. G., et al. (2024) – Developed a molecular diagnostic platform to improve scrub typhus detection accuracy.</a:t>
            </a:r>
            <a:endParaRPr>
              <a:solidFill>
                <a:srgbClr val="002060"/>
              </a:solidFill>
              <a:latin typeface="Times New Roman" panose="02020603050405020304" pitchFamily="18" charset="0"/>
              <a:cs typeface="Times New Roman" panose="02020603050405020304" pitchFamily="18" charset="0"/>
            </a:endParaRPr>
          </a:p>
          <a:p>
            <a:pPr algn="just">
              <a:lnSpc>
                <a:spcPct val="150000"/>
              </a:lnSpc>
            </a:pPr>
            <a:r>
              <a:rPr>
                <a:solidFill>
                  <a:srgbClr val="002060"/>
                </a:solidFill>
                <a:latin typeface="Times New Roman" panose="02020603050405020304" pitchFamily="18" charset="0"/>
                <a:cs typeface="Times New Roman" panose="02020603050405020304" pitchFamily="18" charset="0"/>
              </a:rPr>
              <a:t>[4] Lu, Y., et al. (2025) – Used machine learning techniques to predict the severity of scrub typhus using clinical data.</a:t>
            </a:r>
            <a:endParaRPr>
              <a:solidFill>
                <a:srgbClr val="002060"/>
              </a:solidFill>
              <a:latin typeface="Times New Roman" panose="02020603050405020304" pitchFamily="18" charset="0"/>
              <a:cs typeface="Times New Roman" panose="02020603050405020304" pitchFamily="18" charset="0"/>
            </a:endParaRPr>
          </a:p>
          <a:p>
            <a:pPr algn="just">
              <a:lnSpc>
                <a:spcPct val="150000"/>
              </a:lnSpc>
            </a:pPr>
            <a:r>
              <a:rPr>
                <a:solidFill>
                  <a:srgbClr val="002060"/>
                </a:solidFill>
                <a:latin typeface="Times New Roman" panose="02020603050405020304" pitchFamily="18" charset="0"/>
                <a:cs typeface="Times New Roman" panose="02020603050405020304" pitchFamily="18" charset="0"/>
              </a:rPr>
              <a:t>[5] Kanchanapiboon, P., et al. (2024) – Applied deep learning and computer vision methods to analyze skin lesion images for scrub typhus detection.</a:t>
            </a:r>
            <a:endParaRPr>
              <a:solidFill>
                <a:srgbClr val="002060"/>
              </a:solidFill>
              <a:latin typeface="Times New Roman" panose="02020603050405020304" pitchFamily="18" charset="0"/>
              <a:cs typeface="Times New Roman" panose="02020603050405020304" pitchFamily="18" charset="0"/>
            </a:endParaRPr>
          </a:p>
          <a:p>
            <a:pPr algn="just">
              <a:lnSpc>
                <a:spcPct val="150000"/>
              </a:lnSpc>
            </a:pPr>
            <a:r>
              <a:rPr>
                <a:solidFill>
                  <a:srgbClr val="002060"/>
                </a:solidFill>
                <a:latin typeface="Times New Roman" panose="02020603050405020304" pitchFamily="18" charset="0"/>
                <a:cs typeface="Times New Roman" panose="02020603050405020304" pitchFamily="18" charset="0"/>
              </a:rPr>
              <a:t>[6] Li, F., et al. (2021) – Proposed a biosensor-based method for rapid detection of scrub typhus DNA.</a:t>
            </a:r>
            <a:endParaRPr>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p:nvPr/>
        </p:nvSpPr>
        <p:spPr>
          <a:xfrm>
            <a:off x="1523651" y="2570476"/>
            <a:ext cx="9215502" cy="1363592"/>
          </a:xfrm>
          <a:prstGeom prst="rect">
            <a:avLst/>
          </a:prstGeom>
        </p:spPr>
        <p:txBody>
          <a:bodyPr vert="horz" lIns="91440" tIns="45720" rIns="91440" bIns="45720" rtlCol="0" anchor="ctr">
            <a:noAutofit/>
          </a:bodyPr>
          <a:lstStyle/>
          <a:p>
            <a:pPr marL="514350" indent="-514350" algn="ctr" defTabSz="914400">
              <a:spcBef>
                <a:spcPct val="0"/>
              </a:spcBef>
              <a:defRPr/>
            </a:pPr>
            <a:r>
              <a:rPr lang="en-US" sz="7200" b="1" spc="-50" dirty="0">
                <a:solidFill>
                  <a:srgbClr val="002060"/>
                </a:solidFill>
                <a:latin typeface="Times New Roman" panose="02020603050405020304" pitchFamily="18" charset="0"/>
                <a:cs typeface="Times New Roman" panose="02020603050405020304" pitchFamily="18" charset="0"/>
              </a:rPr>
              <a:t>Thank You</a:t>
            </a:r>
            <a:endParaRPr lang="en-US" sz="7200" b="1" spc="-50"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marL="457200" indent="-457200">
          <a:lnSpc>
            <a:spcPct val="150000"/>
          </a:lnSpc>
          <a:buFont typeface="Wingdings" panose="05000000000000000000" charset="0"/>
          <a:buChar char="§"/>
          <a:defRPr lang="en-US" sz="2800">
            <a:solidFill>
              <a:srgbClr val="C00000"/>
            </a:solidFill>
            <a:latin typeface="Arial Black" panose="020B0A04020102020204" pitchFamily="34" charset="0"/>
            <a:cs typeface="Arial Black" panose="020B0A0402010202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10206</Words>
  <Application>WPS Presentation</Application>
  <PresentationFormat>Widescreen</PresentationFormat>
  <Paragraphs>275</Paragraphs>
  <Slides>18</Slides>
  <Notes>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18</vt:i4>
      </vt:variant>
    </vt:vector>
  </HeadingPairs>
  <TitlesOfParts>
    <vt:vector size="30" baseType="lpstr">
      <vt:lpstr>Arial</vt:lpstr>
      <vt:lpstr>SimSun</vt:lpstr>
      <vt:lpstr>Wingdings</vt:lpstr>
      <vt:lpstr>Wingdings</vt:lpstr>
      <vt:lpstr>Arial Black</vt:lpstr>
      <vt:lpstr>Times New Roman</vt:lpstr>
      <vt:lpstr>Times New Roman</vt:lpstr>
      <vt:lpstr>Microsoft YaHei</vt:lpstr>
      <vt:lpstr>Arial Unicode MS</vt:lpstr>
      <vt:lpstr>Calibri Light</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hp</cp:lastModifiedBy>
  <cp:revision>833</cp:revision>
  <cp:lastPrinted>2023-06-09T04:58:00Z</cp:lastPrinted>
  <dcterms:created xsi:type="dcterms:W3CDTF">2019-12-14T03:50:00Z</dcterms:created>
  <dcterms:modified xsi:type="dcterms:W3CDTF">2026-04-16T16:27:56Z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E988B45A9CFD44838B6376855F0AB7F4_13</vt:lpwstr>
  </property>
  <property fmtid="{D5CDD505-2E9C-101B-9397-08002B2CF9AE}" pid="3" name="KSOProductBuildVer">
    <vt:lpwstr>1033-12.1.0.25242</vt:lpwstr>
  </property>
</Properties>
</file>